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256" r:id="rId2"/>
    <p:sldId id="257" r:id="rId3"/>
    <p:sldId id="258" r:id="rId4"/>
    <p:sldId id="259" r:id="rId5"/>
    <p:sldId id="260" r:id="rId6"/>
    <p:sldId id="261" r:id="rId7"/>
    <p:sldId id="280" r:id="rId8"/>
    <p:sldId id="278" r:id="rId9"/>
    <p:sldId id="265" r:id="rId10"/>
    <p:sldId id="282" r:id="rId11"/>
    <p:sldId id="277" r:id="rId12"/>
    <p:sldId id="266" r:id="rId13"/>
    <p:sldId id="268" r:id="rId14"/>
    <p:sldId id="269" r:id="rId15"/>
    <p:sldId id="270" r:id="rId16"/>
    <p:sldId id="271"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C6F9F1-9885-4DD6-937A-C9924FD80A5C}" v="16" dt="2026-04-12T09:42:31.71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CB0A99-20DD-006B-4F17-2F9AEF23C205}"/>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E7A2938-9BE4-7B8F-A677-2633088A0E77}"/>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5C29C8BB-983E-45AE-90F2-5588F2C8757E}" type="datetimeFigureOut">
              <a:rPr lang="en-IN" smtClean="0"/>
              <a:t>31-08-2026</a:t>
            </a:fld>
            <a:endParaRPr lang="en-IN"/>
          </a:p>
        </p:txBody>
      </p:sp>
      <p:sp>
        <p:nvSpPr>
          <p:cNvPr id="4" name="Footer Placeholder 3">
            <a:extLst>
              <a:ext uri="{FF2B5EF4-FFF2-40B4-BE49-F238E27FC236}">
                <a16:creationId xmlns:a16="http://schemas.microsoft.com/office/drawing/2014/main" id="{B244DE21-3F38-B9EA-7502-47744810F4DB}"/>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474D156-59B7-549C-4620-A2FA457CB399}"/>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7AA6C0D9-FD5A-4FF0-8D29-181D1738FE32}" type="slidenum">
              <a:rPr lang="en-IN" smtClean="0"/>
              <a:t>‹#›</a:t>
            </a:fld>
            <a:endParaRPr lang="en-IN"/>
          </a:p>
        </p:txBody>
      </p:sp>
    </p:spTree>
    <p:extLst>
      <p:ext uri="{BB962C8B-B14F-4D97-AF65-F5344CB8AC3E}">
        <p14:creationId xmlns:p14="http://schemas.microsoft.com/office/powerpoint/2010/main" val="139742676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B61AB4F-705F-470A-872E-DE492AEFCE19}" type="datetimeFigureOut">
              <a:rPr lang="en-IN" smtClean="0"/>
              <a:t>31-08-2026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307A974-FCCF-4E9D-9743-6C84BD32F38B}" type="slidenum">
              <a:rPr lang="en-IN" smtClean="0"/>
              <a:t>‹#›</a:t>
            </a:fld>
            <a:endParaRPr lang="en-IN"/>
          </a:p>
        </p:txBody>
      </p:sp>
    </p:spTree>
    <p:extLst>
      <p:ext uri="{BB962C8B-B14F-4D97-AF65-F5344CB8AC3E}">
        <p14:creationId xmlns:p14="http://schemas.microsoft.com/office/powerpoint/2010/main" val="162693173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17750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78019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ETE,BIT                         Real Time Vision-Based Precision Landing of UAV in GPS Limited Areas</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7159B7B-D52C-46EA-874C-940C8EE9EA9F}" type="datetime5">
              <a:rPr lang="en-US" smtClean="0"/>
              <a:t>31-Aug-26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ETE,BIT                         Real Time Vision-Based Precision Landing of UAV in GPS Limited Areas</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10DB5E8-D457-46E2-BBAA-8C9820462882}" type="datetime5">
              <a:rPr lang="en-US" smtClean="0"/>
              <a:t>31-Aug-26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ETE,BIT                         Real Time Vision-Based Precision Landing of UAV in GPS Limited Areas</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48828B5E-2104-40F7-B174-5036D04474EB}" type="datetime5">
              <a:rPr lang="en-US" smtClean="0"/>
              <a:t>31-Aug-26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ETE,BIT                         Real Time Vision-Based Precision Landing of UAV in GPS Limited Areas</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2317ABA-5C5D-4D55-BDC0-4CC5569D2E12}" type="datetime5">
              <a:rPr lang="en-US" smtClean="0"/>
              <a:t>31-Aug-26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Department of ETE,BIT                         Real Time Vision-Based Precision Landing of UAV in GPS Limited Areas</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034B8E7E-B4A6-4901-95B4-03AC59827273}" type="datetime5">
              <a:rPr lang="en-US" smtClean="0"/>
              <a:t>31-Aug-26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85044" y="1193415"/>
            <a:ext cx="6925309" cy="741857"/>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76758" y="2197349"/>
            <a:ext cx="11150600" cy="40671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rPr lang="en-US"/>
              <a:t>Department of ETE,BIT                         Real Time Vision-Based Precision Landing of UAV in GPS Limited Areas</a:t>
            </a:r>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F1EBAF53-10CB-469D-9D71-C46267206276}" type="datetime5">
              <a:rPr lang="en-US" smtClean="0"/>
              <a:t>31-Aug-26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hyperlink" Target="http://www.bit-Bangalore.edu.in/" TargetMode="Externa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9050" y="-19050"/>
            <a:ext cx="12230100" cy="1296670"/>
            <a:chOff x="-19050" y="-19050"/>
            <a:chExt cx="12230100" cy="1296670"/>
          </a:xfrm>
        </p:grpSpPr>
        <p:pic>
          <p:nvPicPr>
            <p:cNvPr id="3" name="object 3"/>
            <p:cNvPicPr/>
            <p:nvPr/>
          </p:nvPicPr>
          <p:blipFill>
            <a:blip r:embed="rId3" cstate="print"/>
            <a:stretch>
              <a:fillRect/>
            </a:stretch>
          </p:blipFill>
          <p:spPr>
            <a:xfrm>
              <a:off x="0" y="0"/>
              <a:ext cx="12192000" cy="1277228"/>
            </a:xfrm>
            <a:prstGeom prst="rect">
              <a:avLst/>
            </a:prstGeom>
          </p:spPr>
        </p:pic>
        <p:sp>
          <p:nvSpPr>
            <p:cNvPr id="4" name="object 4"/>
            <p:cNvSpPr/>
            <p:nvPr/>
          </p:nvSpPr>
          <p:spPr>
            <a:xfrm>
              <a:off x="0" y="0"/>
              <a:ext cx="12192000" cy="1198245"/>
            </a:xfrm>
            <a:custGeom>
              <a:avLst/>
              <a:gdLst/>
              <a:ahLst/>
              <a:cxnLst/>
              <a:rect l="l" t="t" r="r" b="b"/>
              <a:pathLst>
                <a:path w="12192000" h="1198245">
                  <a:moveTo>
                    <a:pt x="12191999" y="1198177"/>
                  </a:moveTo>
                  <a:lnTo>
                    <a:pt x="0" y="1198177"/>
                  </a:lnTo>
                  <a:lnTo>
                    <a:pt x="0" y="0"/>
                  </a:lnTo>
                  <a:lnTo>
                    <a:pt x="12191999" y="0"/>
                  </a:lnTo>
                  <a:lnTo>
                    <a:pt x="12191999" y="1198177"/>
                  </a:lnTo>
                  <a:close/>
                </a:path>
              </a:pathLst>
            </a:custGeom>
            <a:solidFill>
              <a:srgbClr val="FF6600"/>
            </a:solidFill>
          </p:spPr>
          <p:txBody>
            <a:bodyPr wrap="square" lIns="0" tIns="0" rIns="0" bIns="0" rtlCol="0"/>
            <a:lstStyle/>
            <a:p>
              <a:endParaRPr/>
            </a:p>
          </p:txBody>
        </p:sp>
        <p:sp>
          <p:nvSpPr>
            <p:cNvPr id="5" name="object 5"/>
            <p:cNvSpPr/>
            <p:nvPr/>
          </p:nvSpPr>
          <p:spPr>
            <a:xfrm>
              <a:off x="0" y="0"/>
              <a:ext cx="12192000" cy="1198245"/>
            </a:xfrm>
            <a:custGeom>
              <a:avLst/>
              <a:gdLst/>
              <a:ahLst/>
              <a:cxnLst/>
              <a:rect l="l" t="t" r="r" b="b"/>
              <a:pathLst>
                <a:path w="12192000" h="1198245">
                  <a:moveTo>
                    <a:pt x="12191999" y="0"/>
                  </a:moveTo>
                  <a:lnTo>
                    <a:pt x="12191999" y="1198177"/>
                  </a:lnTo>
                  <a:lnTo>
                    <a:pt x="0" y="1198177"/>
                  </a:lnTo>
                  <a:lnTo>
                    <a:pt x="0" y="0"/>
                  </a:lnTo>
                </a:path>
              </a:pathLst>
            </a:custGeom>
            <a:ln w="38099">
              <a:solidFill>
                <a:srgbClr val="FFFFFF"/>
              </a:solidFill>
            </a:ln>
          </p:spPr>
          <p:txBody>
            <a:bodyPr wrap="square" lIns="0" tIns="0" rIns="0" bIns="0" rtlCol="0"/>
            <a:lstStyle/>
            <a:p>
              <a:endParaRPr/>
            </a:p>
          </p:txBody>
        </p:sp>
      </p:grpSp>
      <p:sp>
        <p:nvSpPr>
          <p:cNvPr id="6" name="object 6" descr="$PPTXTitle"/>
          <p:cNvSpPr txBox="1">
            <a:spLocks noGrp="1"/>
          </p:cNvSpPr>
          <p:nvPr>
            <p:ph type="title"/>
          </p:nvPr>
        </p:nvSpPr>
        <p:spPr>
          <a:xfrm>
            <a:off x="4016375" y="-26090"/>
            <a:ext cx="3749675" cy="939800"/>
          </a:xfrm>
          <a:prstGeom prst="rect">
            <a:avLst/>
          </a:prstGeom>
        </p:spPr>
        <p:txBody>
          <a:bodyPr vert="horz" wrap="square" lIns="0" tIns="12700" rIns="0" bIns="0" rtlCol="0">
            <a:spAutoFit/>
          </a:bodyPr>
          <a:lstStyle/>
          <a:p>
            <a:pPr marL="704850" marR="5080" indent="-692150">
              <a:lnSpc>
                <a:spcPct val="100000"/>
              </a:lnSpc>
              <a:spcBef>
                <a:spcPts val="100"/>
              </a:spcBef>
            </a:pPr>
            <a:r>
              <a:rPr sz="2000" dirty="0">
                <a:solidFill>
                  <a:srgbClr val="FFFFFF"/>
                </a:solidFill>
              </a:rPr>
              <a:t>Bangalore</a:t>
            </a:r>
            <a:r>
              <a:rPr sz="2000" spc="-45" dirty="0">
                <a:solidFill>
                  <a:srgbClr val="FFFFFF"/>
                </a:solidFill>
              </a:rPr>
              <a:t> </a:t>
            </a:r>
            <a:r>
              <a:rPr sz="2000" dirty="0">
                <a:solidFill>
                  <a:srgbClr val="FFFFFF"/>
                </a:solidFill>
              </a:rPr>
              <a:t>Institute</a:t>
            </a:r>
            <a:r>
              <a:rPr sz="2000" spc="-45" dirty="0">
                <a:solidFill>
                  <a:srgbClr val="FFFFFF"/>
                </a:solidFill>
              </a:rPr>
              <a:t> </a:t>
            </a:r>
            <a:r>
              <a:rPr sz="2000" dirty="0">
                <a:solidFill>
                  <a:srgbClr val="FFFFFF"/>
                </a:solidFill>
              </a:rPr>
              <a:t>Of</a:t>
            </a:r>
            <a:r>
              <a:rPr sz="2000" spc="-75" dirty="0">
                <a:solidFill>
                  <a:srgbClr val="FFFFFF"/>
                </a:solidFill>
              </a:rPr>
              <a:t> </a:t>
            </a:r>
            <a:r>
              <a:rPr sz="2000" spc="-20" dirty="0">
                <a:solidFill>
                  <a:srgbClr val="FFFFFF"/>
                </a:solidFill>
              </a:rPr>
              <a:t>Technology </a:t>
            </a:r>
            <a:r>
              <a:rPr sz="2000" dirty="0">
                <a:solidFill>
                  <a:srgbClr val="FFFFFF"/>
                </a:solidFill>
              </a:rPr>
              <a:t> </a:t>
            </a:r>
            <a:r>
              <a:rPr sz="2000" spc="-25" dirty="0">
                <a:solidFill>
                  <a:srgbClr val="FFFFFF"/>
                </a:solidFill>
              </a:rPr>
              <a:t> </a:t>
            </a:r>
            <a:r>
              <a:rPr sz="2000" dirty="0">
                <a:solidFill>
                  <a:srgbClr val="FFFFFF"/>
                </a:solidFill>
              </a:rPr>
              <a:t>R</a:t>
            </a:r>
            <a:r>
              <a:rPr sz="2000" spc="-25" dirty="0">
                <a:solidFill>
                  <a:srgbClr val="FFFFFF"/>
                </a:solidFill>
              </a:rPr>
              <a:t> </a:t>
            </a:r>
            <a:r>
              <a:rPr sz="2000" dirty="0">
                <a:solidFill>
                  <a:srgbClr val="FFFFFF"/>
                </a:solidFill>
              </a:rPr>
              <a:t>Road,</a:t>
            </a:r>
            <a:r>
              <a:rPr sz="2000" spc="-60" dirty="0">
                <a:solidFill>
                  <a:srgbClr val="FFFFFF"/>
                </a:solidFill>
              </a:rPr>
              <a:t> </a:t>
            </a:r>
            <a:r>
              <a:rPr sz="2000" dirty="0">
                <a:solidFill>
                  <a:srgbClr val="FFFFFF"/>
                </a:solidFill>
              </a:rPr>
              <a:t>V</a:t>
            </a:r>
            <a:r>
              <a:rPr sz="2000" spc="-95" dirty="0">
                <a:solidFill>
                  <a:srgbClr val="FFFFFF"/>
                </a:solidFill>
              </a:rPr>
              <a:t> </a:t>
            </a:r>
            <a:r>
              <a:rPr sz="2000" dirty="0">
                <a:solidFill>
                  <a:srgbClr val="FFFFFF"/>
                </a:solidFill>
              </a:rPr>
              <a:t>V</a:t>
            </a:r>
            <a:r>
              <a:rPr sz="2000" spc="-55" dirty="0">
                <a:solidFill>
                  <a:srgbClr val="FFFFFF"/>
                </a:solidFill>
              </a:rPr>
              <a:t> </a:t>
            </a:r>
            <a:r>
              <a:rPr sz="2000" spc="-20" dirty="0">
                <a:solidFill>
                  <a:srgbClr val="FFFFFF"/>
                </a:solidFill>
              </a:rPr>
              <a:t>Pura </a:t>
            </a:r>
            <a:r>
              <a:rPr sz="2000" dirty="0">
                <a:solidFill>
                  <a:srgbClr val="FFFFFF"/>
                </a:solidFill>
              </a:rPr>
              <a:t>Bengaluru-</a:t>
            </a:r>
            <a:r>
              <a:rPr sz="2000" spc="-10" dirty="0">
                <a:solidFill>
                  <a:srgbClr val="FFFFFF"/>
                </a:solidFill>
              </a:rPr>
              <a:t>560004</a:t>
            </a:r>
            <a:endParaRPr sz="2000"/>
          </a:p>
        </p:txBody>
      </p:sp>
      <p:sp>
        <p:nvSpPr>
          <p:cNvPr id="7" name="object 7"/>
          <p:cNvSpPr txBox="1"/>
          <p:nvPr/>
        </p:nvSpPr>
        <p:spPr>
          <a:xfrm>
            <a:off x="310412" y="762328"/>
            <a:ext cx="11564620" cy="4742965"/>
          </a:xfrm>
          <a:prstGeom prst="rect">
            <a:avLst/>
          </a:prstGeom>
        </p:spPr>
        <p:txBody>
          <a:bodyPr vert="horz" wrap="square" lIns="0" tIns="140335" rIns="0" bIns="0" rtlCol="0">
            <a:spAutoFit/>
          </a:bodyPr>
          <a:lstStyle/>
          <a:p>
            <a:pPr marR="400685" algn="ctr">
              <a:lnSpc>
                <a:spcPct val="100000"/>
              </a:lnSpc>
              <a:spcBef>
                <a:spcPts val="1105"/>
              </a:spcBef>
            </a:pPr>
            <a:r>
              <a:rPr sz="1600" b="1" spc="-25" dirty="0">
                <a:solidFill>
                  <a:srgbClr val="FFFFFF"/>
                </a:solidFill>
                <a:latin typeface="Times New Roman"/>
                <a:cs typeface="Times New Roman"/>
                <a:hlinkClick r:id="rId4"/>
              </a:rPr>
              <a:t>www.bit-</a:t>
            </a:r>
            <a:r>
              <a:rPr sz="1600" b="1" spc="-10" dirty="0">
                <a:solidFill>
                  <a:srgbClr val="FFFFFF"/>
                </a:solidFill>
                <a:latin typeface="Times New Roman"/>
                <a:cs typeface="Times New Roman"/>
                <a:hlinkClick r:id="rId4"/>
              </a:rPr>
              <a:t>Bangalore.edu.in</a:t>
            </a:r>
            <a:endParaRPr sz="1600" dirty="0">
              <a:latin typeface="Times New Roman"/>
              <a:cs typeface="Times New Roman"/>
            </a:endParaRPr>
          </a:p>
          <a:p>
            <a:pPr marL="3810" algn="ctr">
              <a:lnSpc>
                <a:spcPct val="100000"/>
              </a:lnSpc>
              <a:spcBef>
                <a:spcPts val="1515"/>
              </a:spcBef>
            </a:pPr>
            <a:r>
              <a:rPr sz="2400" b="1" dirty="0">
                <a:solidFill>
                  <a:srgbClr val="3333CC"/>
                </a:solidFill>
                <a:latin typeface="Times New Roman"/>
                <a:cs typeface="Times New Roman"/>
              </a:rPr>
              <a:t>Department</a:t>
            </a:r>
            <a:r>
              <a:rPr sz="2400" b="1" spc="-90" dirty="0">
                <a:solidFill>
                  <a:srgbClr val="3333CC"/>
                </a:solidFill>
                <a:latin typeface="Times New Roman"/>
                <a:cs typeface="Times New Roman"/>
              </a:rPr>
              <a:t> </a:t>
            </a:r>
            <a:r>
              <a:rPr sz="2400" b="1" dirty="0">
                <a:solidFill>
                  <a:srgbClr val="3333CC"/>
                </a:solidFill>
                <a:latin typeface="Times New Roman"/>
                <a:cs typeface="Times New Roman"/>
              </a:rPr>
              <a:t>of</a:t>
            </a:r>
            <a:r>
              <a:rPr sz="2400" b="1" spc="-85" dirty="0">
                <a:solidFill>
                  <a:srgbClr val="3333CC"/>
                </a:solidFill>
                <a:latin typeface="Times New Roman"/>
                <a:cs typeface="Times New Roman"/>
              </a:rPr>
              <a:t> </a:t>
            </a:r>
            <a:r>
              <a:rPr sz="2400" b="1" dirty="0">
                <a:solidFill>
                  <a:srgbClr val="3333CC"/>
                </a:solidFill>
                <a:latin typeface="Times New Roman"/>
                <a:cs typeface="Times New Roman"/>
              </a:rPr>
              <a:t>Electronics</a:t>
            </a:r>
            <a:r>
              <a:rPr sz="2400" b="1" spc="-85" dirty="0">
                <a:solidFill>
                  <a:srgbClr val="3333CC"/>
                </a:solidFill>
                <a:latin typeface="Times New Roman"/>
                <a:cs typeface="Times New Roman"/>
              </a:rPr>
              <a:t> </a:t>
            </a:r>
            <a:r>
              <a:rPr sz="2400" b="1" dirty="0">
                <a:solidFill>
                  <a:srgbClr val="3333CC"/>
                </a:solidFill>
                <a:latin typeface="Times New Roman"/>
                <a:cs typeface="Times New Roman"/>
              </a:rPr>
              <a:t>and</a:t>
            </a:r>
            <a:r>
              <a:rPr sz="2400" b="1" spc="-125" dirty="0">
                <a:solidFill>
                  <a:srgbClr val="3333CC"/>
                </a:solidFill>
                <a:latin typeface="Times New Roman"/>
                <a:cs typeface="Times New Roman"/>
              </a:rPr>
              <a:t> </a:t>
            </a:r>
            <a:r>
              <a:rPr sz="2400" b="1" spc="-10" dirty="0">
                <a:solidFill>
                  <a:srgbClr val="3333CC"/>
                </a:solidFill>
                <a:latin typeface="Times New Roman"/>
                <a:cs typeface="Times New Roman"/>
              </a:rPr>
              <a:t>Telecommunication</a:t>
            </a:r>
            <a:r>
              <a:rPr sz="2400" b="1" spc="-90" dirty="0">
                <a:solidFill>
                  <a:srgbClr val="3333CC"/>
                </a:solidFill>
                <a:latin typeface="Times New Roman"/>
                <a:cs typeface="Times New Roman"/>
              </a:rPr>
              <a:t> </a:t>
            </a:r>
            <a:r>
              <a:rPr sz="2400" b="1" spc="-10" dirty="0">
                <a:solidFill>
                  <a:srgbClr val="3333CC"/>
                </a:solidFill>
                <a:latin typeface="Times New Roman"/>
                <a:cs typeface="Times New Roman"/>
              </a:rPr>
              <a:t>Engineering</a:t>
            </a:r>
            <a:endParaRPr sz="2400" dirty="0">
              <a:latin typeface="Times New Roman"/>
              <a:cs typeface="Times New Roman"/>
            </a:endParaRPr>
          </a:p>
          <a:p>
            <a:pPr marL="4445" algn="ctr">
              <a:lnSpc>
                <a:spcPct val="100000"/>
              </a:lnSpc>
            </a:pPr>
            <a:r>
              <a:rPr sz="2400" dirty="0">
                <a:latin typeface="Times New Roman"/>
                <a:cs typeface="Times New Roman"/>
              </a:rPr>
              <a:t>VI</a:t>
            </a:r>
            <a:r>
              <a:rPr sz="2400" spc="-15" dirty="0">
                <a:latin typeface="Times New Roman"/>
                <a:cs typeface="Times New Roman"/>
              </a:rPr>
              <a:t> </a:t>
            </a:r>
            <a:r>
              <a:rPr sz="2400" dirty="0">
                <a:latin typeface="Times New Roman"/>
                <a:cs typeface="Times New Roman"/>
              </a:rPr>
              <a:t>Semester</a:t>
            </a:r>
            <a:r>
              <a:rPr sz="2400" spc="-10" dirty="0">
                <a:latin typeface="Times New Roman"/>
                <a:cs typeface="Times New Roman"/>
              </a:rPr>
              <a:t> </a:t>
            </a:r>
            <a:r>
              <a:rPr sz="2400" dirty="0">
                <a:latin typeface="Times New Roman"/>
                <a:cs typeface="Times New Roman"/>
              </a:rPr>
              <a:t>Major</a:t>
            </a:r>
            <a:r>
              <a:rPr sz="2400" spc="-10" dirty="0">
                <a:latin typeface="Times New Roman"/>
                <a:cs typeface="Times New Roman"/>
              </a:rPr>
              <a:t> </a:t>
            </a:r>
            <a:r>
              <a:rPr sz="2400" spc="-20" dirty="0">
                <a:latin typeface="Times New Roman"/>
                <a:cs typeface="Times New Roman"/>
              </a:rPr>
              <a:t>PROJECT</a:t>
            </a:r>
            <a:r>
              <a:rPr sz="2400" spc="-100" dirty="0">
                <a:latin typeface="Times New Roman"/>
                <a:cs typeface="Times New Roman"/>
              </a:rPr>
              <a:t> </a:t>
            </a:r>
            <a:r>
              <a:rPr sz="2400" dirty="0">
                <a:latin typeface="Times New Roman"/>
                <a:cs typeface="Times New Roman"/>
              </a:rPr>
              <a:t>WORK</a:t>
            </a:r>
            <a:r>
              <a:rPr sz="2400" spc="-15" dirty="0">
                <a:latin typeface="Times New Roman"/>
                <a:cs typeface="Times New Roman"/>
              </a:rPr>
              <a:t> </a:t>
            </a:r>
            <a:r>
              <a:rPr sz="2400" spc="-20" dirty="0">
                <a:latin typeface="Times New Roman"/>
                <a:cs typeface="Times New Roman"/>
              </a:rPr>
              <a:t>Phase-</a:t>
            </a:r>
            <a:r>
              <a:rPr sz="2400" dirty="0">
                <a:latin typeface="Times New Roman"/>
                <a:cs typeface="Times New Roman"/>
              </a:rPr>
              <a:t>1</a:t>
            </a:r>
            <a:r>
              <a:rPr sz="2400" spc="-10" dirty="0">
                <a:latin typeface="Times New Roman"/>
                <a:cs typeface="Times New Roman"/>
              </a:rPr>
              <a:t> (22BTE685)</a:t>
            </a:r>
            <a:endParaRPr sz="2400" dirty="0">
              <a:latin typeface="Times New Roman"/>
              <a:cs typeface="Times New Roman"/>
            </a:endParaRPr>
          </a:p>
          <a:p>
            <a:pPr marL="4117340" marR="4103370" algn="ctr">
              <a:lnSpc>
                <a:spcPct val="150000"/>
              </a:lnSpc>
            </a:pPr>
            <a:r>
              <a:rPr sz="2400" dirty="0">
                <a:latin typeface="Times New Roman"/>
                <a:cs typeface="Times New Roman"/>
              </a:rPr>
              <a:t>New</a:t>
            </a:r>
            <a:r>
              <a:rPr sz="2400" spc="-95" dirty="0">
                <a:latin typeface="Times New Roman"/>
                <a:cs typeface="Times New Roman"/>
              </a:rPr>
              <a:t> </a:t>
            </a:r>
            <a:r>
              <a:rPr sz="2400" dirty="0">
                <a:latin typeface="Times New Roman"/>
                <a:cs typeface="Times New Roman"/>
              </a:rPr>
              <a:t>Synopsis</a:t>
            </a:r>
            <a:r>
              <a:rPr sz="2400" spc="-95" dirty="0">
                <a:latin typeface="Times New Roman"/>
                <a:cs typeface="Times New Roman"/>
              </a:rPr>
              <a:t> </a:t>
            </a:r>
            <a:r>
              <a:rPr sz="2400" spc="-10" dirty="0">
                <a:latin typeface="Times New Roman"/>
                <a:cs typeface="Times New Roman"/>
              </a:rPr>
              <a:t>Presentation </a:t>
            </a:r>
            <a:r>
              <a:rPr sz="2400" spc="-20" dirty="0">
                <a:latin typeface="Times New Roman"/>
                <a:cs typeface="Times New Roman"/>
              </a:rPr>
              <a:t>Feb-</a:t>
            </a:r>
            <a:r>
              <a:rPr sz="2400" dirty="0">
                <a:latin typeface="Times New Roman"/>
                <a:cs typeface="Times New Roman"/>
              </a:rPr>
              <a:t>May</a:t>
            </a:r>
            <a:r>
              <a:rPr sz="2400" spc="-10" dirty="0">
                <a:latin typeface="Times New Roman"/>
                <a:cs typeface="Times New Roman"/>
              </a:rPr>
              <a:t> </a:t>
            </a:r>
            <a:r>
              <a:rPr sz="2400" spc="-20" dirty="0">
                <a:latin typeface="Times New Roman"/>
                <a:cs typeface="Times New Roman"/>
              </a:rPr>
              <a:t>2026</a:t>
            </a:r>
            <a:endParaRPr sz="2400" dirty="0">
              <a:latin typeface="Times New Roman"/>
              <a:cs typeface="Times New Roman"/>
            </a:endParaRPr>
          </a:p>
          <a:p>
            <a:pPr marL="6985" algn="ctr">
              <a:lnSpc>
                <a:spcPct val="100000"/>
              </a:lnSpc>
              <a:spcBef>
                <a:spcPts val="1455"/>
              </a:spcBef>
            </a:pPr>
            <a:r>
              <a:rPr sz="2000" b="1" spc="-25" dirty="0">
                <a:latin typeface="Times New Roman"/>
                <a:cs typeface="Times New Roman"/>
              </a:rPr>
              <a:t>On</a:t>
            </a:r>
            <a:endParaRPr sz="2000" dirty="0">
              <a:latin typeface="Times New Roman"/>
              <a:cs typeface="Times New Roman"/>
            </a:endParaRPr>
          </a:p>
          <a:p>
            <a:pPr algn="ctr">
              <a:lnSpc>
                <a:spcPct val="100000"/>
              </a:lnSpc>
            </a:pPr>
            <a:r>
              <a:rPr sz="2000" b="1" spc="-10" dirty="0">
                <a:latin typeface="Calibri"/>
                <a:cs typeface="Calibri"/>
              </a:rPr>
              <a:t>Real</a:t>
            </a:r>
            <a:r>
              <a:rPr sz="2000" b="1" spc="-60" dirty="0">
                <a:latin typeface="Calibri"/>
                <a:cs typeface="Calibri"/>
              </a:rPr>
              <a:t> </a:t>
            </a:r>
            <a:r>
              <a:rPr sz="2000" b="1" spc="-20" dirty="0">
                <a:latin typeface="Calibri"/>
                <a:cs typeface="Calibri"/>
              </a:rPr>
              <a:t>Time </a:t>
            </a:r>
            <a:r>
              <a:rPr sz="2000" b="1" spc="-10" dirty="0">
                <a:latin typeface="Calibri"/>
                <a:cs typeface="Calibri"/>
              </a:rPr>
              <a:t>Vision-Based</a:t>
            </a:r>
            <a:r>
              <a:rPr sz="2000" b="1" spc="-60" dirty="0">
                <a:latin typeface="Calibri"/>
                <a:cs typeface="Calibri"/>
              </a:rPr>
              <a:t> </a:t>
            </a:r>
            <a:r>
              <a:rPr sz="2000" b="1" spc="-10" dirty="0">
                <a:latin typeface="Calibri"/>
                <a:cs typeface="Calibri"/>
              </a:rPr>
              <a:t>Precision Landing</a:t>
            </a:r>
            <a:r>
              <a:rPr sz="2000" b="1" spc="-55" dirty="0">
                <a:latin typeface="Calibri"/>
                <a:cs typeface="Calibri"/>
              </a:rPr>
              <a:t> </a:t>
            </a:r>
            <a:r>
              <a:rPr sz="2000" b="1" dirty="0">
                <a:latin typeface="Calibri"/>
                <a:cs typeface="Calibri"/>
              </a:rPr>
              <a:t> </a:t>
            </a:r>
            <a:r>
              <a:rPr sz="2000" b="1" spc="-60" dirty="0">
                <a:latin typeface="Calibri"/>
                <a:cs typeface="Calibri"/>
              </a:rPr>
              <a:t> </a:t>
            </a:r>
            <a:r>
              <a:rPr sz="2000" b="1" dirty="0">
                <a:latin typeface="Calibri"/>
                <a:cs typeface="Calibri"/>
              </a:rPr>
              <a:t>of</a:t>
            </a:r>
            <a:r>
              <a:rPr sz="2000" b="1" spc="-55" dirty="0">
                <a:latin typeface="Calibri"/>
                <a:cs typeface="Calibri"/>
              </a:rPr>
              <a:t> </a:t>
            </a:r>
            <a:r>
              <a:rPr sz="2000" b="1" dirty="0">
                <a:latin typeface="Calibri"/>
                <a:cs typeface="Calibri"/>
              </a:rPr>
              <a:t>UAV in</a:t>
            </a:r>
            <a:r>
              <a:rPr sz="2000" b="1" spc="-60" dirty="0">
                <a:latin typeface="Calibri"/>
                <a:cs typeface="Calibri"/>
              </a:rPr>
              <a:t> </a:t>
            </a:r>
            <a:r>
              <a:rPr sz="2000" b="1" dirty="0">
                <a:latin typeface="Calibri"/>
                <a:cs typeface="Calibri"/>
              </a:rPr>
              <a:t>GPS-Limited</a:t>
            </a:r>
            <a:r>
              <a:rPr sz="2000" b="1" spc="-55" dirty="0">
                <a:latin typeface="Calibri"/>
                <a:cs typeface="Calibri"/>
              </a:rPr>
              <a:t> </a:t>
            </a:r>
            <a:r>
              <a:rPr sz="2000" b="1" dirty="0">
                <a:latin typeface="Calibri"/>
                <a:cs typeface="Calibri"/>
              </a:rPr>
              <a:t>Environments</a:t>
            </a:r>
            <a:r>
              <a:rPr sz="2000" b="1" spc="-60" dirty="0">
                <a:latin typeface="Calibri"/>
                <a:cs typeface="Calibri"/>
              </a:rPr>
              <a:t>  </a:t>
            </a:r>
            <a:r>
              <a:rPr sz="2000" b="1" spc="-55" dirty="0">
                <a:latin typeface="Calibri"/>
                <a:cs typeface="Calibri"/>
              </a:rPr>
              <a:t> </a:t>
            </a:r>
            <a:r>
              <a:rPr sz="2000" b="1" spc="-60" dirty="0">
                <a:latin typeface="Calibri"/>
                <a:cs typeface="Calibri"/>
              </a:rPr>
              <a:t> </a:t>
            </a:r>
            <a:r>
              <a:rPr sz="2000" b="1" dirty="0">
                <a:latin typeface="Calibri"/>
                <a:cs typeface="Calibri"/>
              </a:rPr>
              <a:t> </a:t>
            </a:r>
            <a:r>
              <a:rPr sz="2000" b="1" spc="-55" dirty="0">
                <a:latin typeface="Calibri"/>
                <a:cs typeface="Calibri"/>
              </a:rPr>
              <a:t> </a:t>
            </a:r>
            <a:r>
              <a:rPr sz="2000" b="1" spc="-60" dirty="0">
                <a:latin typeface="Calibri"/>
                <a:cs typeface="Calibri"/>
              </a:rPr>
              <a:t> </a:t>
            </a:r>
            <a:endParaRPr sz="2000" dirty="0">
              <a:latin typeface="Calibri"/>
              <a:cs typeface="Calibri"/>
            </a:endParaRPr>
          </a:p>
          <a:p>
            <a:pPr marL="2176145">
              <a:lnSpc>
                <a:spcPct val="100000"/>
              </a:lnSpc>
              <a:spcBef>
                <a:spcPts val="1860"/>
              </a:spcBef>
            </a:pPr>
            <a:r>
              <a:rPr sz="2400" b="1" u="heavy" dirty="0">
                <a:uFill>
                  <a:solidFill>
                    <a:srgbClr val="000000"/>
                  </a:solidFill>
                </a:uFill>
                <a:latin typeface="Times New Roman"/>
                <a:cs typeface="Times New Roman"/>
              </a:rPr>
              <a:t>Presented</a:t>
            </a:r>
            <a:r>
              <a:rPr sz="2400" b="1" u="heavy" spc="-105" dirty="0">
                <a:uFill>
                  <a:solidFill>
                    <a:srgbClr val="000000"/>
                  </a:solidFill>
                </a:uFill>
                <a:latin typeface="Times New Roman"/>
                <a:cs typeface="Times New Roman"/>
              </a:rPr>
              <a:t> </a:t>
            </a:r>
            <a:r>
              <a:rPr sz="2400" b="1" u="heavy" spc="-25" dirty="0">
                <a:uFill>
                  <a:solidFill>
                    <a:srgbClr val="000000"/>
                  </a:solidFill>
                </a:uFill>
                <a:latin typeface="Times New Roman"/>
                <a:cs typeface="Times New Roman"/>
              </a:rPr>
              <a:t>by</a:t>
            </a:r>
            <a:endParaRPr sz="2400" dirty="0">
              <a:latin typeface="Times New Roman"/>
              <a:cs typeface="Times New Roman"/>
            </a:endParaRPr>
          </a:p>
          <a:p>
            <a:pPr>
              <a:lnSpc>
                <a:spcPct val="100000"/>
              </a:lnSpc>
              <a:spcBef>
                <a:spcPts val="1650"/>
              </a:spcBef>
            </a:pPr>
            <a:endParaRPr sz="2400" dirty="0">
              <a:latin typeface="Times New Roman"/>
              <a:cs typeface="Times New Roman"/>
            </a:endParaRPr>
          </a:p>
          <a:p>
            <a:pPr marL="7186930">
              <a:lnSpc>
                <a:spcPct val="100000"/>
              </a:lnSpc>
            </a:pPr>
            <a:r>
              <a:rPr sz="2000" dirty="0">
                <a:latin typeface="Times New Roman"/>
                <a:cs typeface="Times New Roman"/>
              </a:rPr>
              <a:t>Presented on – Date</a:t>
            </a:r>
            <a:r>
              <a:rPr sz="2000">
                <a:latin typeface="Times New Roman"/>
                <a:cs typeface="Times New Roman"/>
              </a:rPr>
              <a:t>:- </a:t>
            </a:r>
            <a:r>
              <a:rPr lang="en-IN" sz="2000" spc="-10" dirty="0">
                <a:latin typeface="Times New Roman"/>
                <a:cs typeface="Times New Roman"/>
              </a:rPr>
              <a:t>09</a:t>
            </a:r>
            <a:r>
              <a:rPr sz="2000" spc="-10">
                <a:latin typeface="Times New Roman"/>
                <a:cs typeface="Times New Roman"/>
              </a:rPr>
              <a:t>/0</a:t>
            </a:r>
            <a:r>
              <a:rPr lang="en-IN" sz="2000" spc="-10" dirty="0">
                <a:latin typeface="Times New Roman"/>
                <a:cs typeface="Times New Roman"/>
              </a:rPr>
              <a:t>5</a:t>
            </a:r>
            <a:r>
              <a:rPr sz="2000" spc="-10">
                <a:latin typeface="Times New Roman"/>
                <a:cs typeface="Times New Roman"/>
              </a:rPr>
              <a:t>/2026</a:t>
            </a:r>
            <a:endParaRPr sz="2000" dirty="0">
              <a:latin typeface="Times New Roman"/>
              <a:cs typeface="Times New Roman"/>
            </a:endParaRPr>
          </a:p>
        </p:txBody>
      </p:sp>
      <p:grpSp>
        <p:nvGrpSpPr>
          <p:cNvPr id="8" name="object 8"/>
          <p:cNvGrpSpPr/>
          <p:nvPr/>
        </p:nvGrpSpPr>
        <p:grpSpPr>
          <a:xfrm>
            <a:off x="34885" y="46438"/>
            <a:ext cx="12031980" cy="1102360"/>
            <a:chOff x="34885" y="46438"/>
            <a:chExt cx="12031980" cy="1102360"/>
          </a:xfrm>
        </p:grpSpPr>
        <p:pic>
          <p:nvPicPr>
            <p:cNvPr id="9" name="object 9"/>
            <p:cNvPicPr/>
            <p:nvPr/>
          </p:nvPicPr>
          <p:blipFill>
            <a:blip r:embed="rId5" cstate="print"/>
            <a:stretch>
              <a:fillRect/>
            </a:stretch>
          </p:blipFill>
          <p:spPr>
            <a:xfrm>
              <a:off x="34885" y="113880"/>
              <a:ext cx="794532" cy="919009"/>
            </a:xfrm>
            <a:prstGeom prst="rect">
              <a:avLst/>
            </a:prstGeom>
          </p:spPr>
        </p:pic>
        <p:pic>
          <p:nvPicPr>
            <p:cNvPr id="10" name="object 10"/>
            <p:cNvPicPr/>
            <p:nvPr/>
          </p:nvPicPr>
          <p:blipFill>
            <a:blip r:embed="rId6" cstate="print"/>
            <a:stretch>
              <a:fillRect/>
            </a:stretch>
          </p:blipFill>
          <p:spPr>
            <a:xfrm>
              <a:off x="799095" y="113880"/>
              <a:ext cx="1040869" cy="858159"/>
            </a:xfrm>
            <a:prstGeom prst="rect">
              <a:avLst/>
            </a:prstGeom>
          </p:spPr>
        </p:pic>
        <p:pic>
          <p:nvPicPr>
            <p:cNvPr id="11" name="object 11"/>
            <p:cNvPicPr/>
            <p:nvPr/>
          </p:nvPicPr>
          <p:blipFill>
            <a:blip r:embed="rId7" cstate="print"/>
            <a:stretch>
              <a:fillRect/>
            </a:stretch>
          </p:blipFill>
          <p:spPr>
            <a:xfrm>
              <a:off x="1874850" y="163301"/>
              <a:ext cx="1040870" cy="798776"/>
            </a:xfrm>
            <a:prstGeom prst="rect">
              <a:avLst/>
            </a:prstGeom>
          </p:spPr>
        </p:pic>
        <p:pic>
          <p:nvPicPr>
            <p:cNvPr id="12" name="object 12"/>
            <p:cNvPicPr/>
            <p:nvPr/>
          </p:nvPicPr>
          <p:blipFill>
            <a:blip r:embed="rId8" cstate="print"/>
            <a:stretch>
              <a:fillRect/>
            </a:stretch>
          </p:blipFill>
          <p:spPr>
            <a:xfrm>
              <a:off x="7683063" y="174732"/>
              <a:ext cx="872159" cy="780905"/>
            </a:xfrm>
            <a:prstGeom prst="rect">
              <a:avLst/>
            </a:prstGeom>
          </p:spPr>
        </p:pic>
        <p:pic>
          <p:nvPicPr>
            <p:cNvPr id="13" name="object 13"/>
            <p:cNvPicPr/>
            <p:nvPr/>
          </p:nvPicPr>
          <p:blipFill>
            <a:blip r:embed="rId9" cstate="print"/>
            <a:stretch>
              <a:fillRect/>
            </a:stretch>
          </p:blipFill>
          <p:spPr>
            <a:xfrm>
              <a:off x="2906140" y="46438"/>
              <a:ext cx="1416486" cy="1101825"/>
            </a:xfrm>
            <a:prstGeom prst="rect">
              <a:avLst/>
            </a:prstGeom>
          </p:spPr>
        </p:pic>
        <p:pic>
          <p:nvPicPr>
            <p:cNvPr id="14" name="object 14"/>
            <p:cNvPicPr/>
            <p:nvPr/>
          </p:nvPicPr>
          <p:blipFill>
            <a:blip r:embed="rId10" cstate="print"/>
            <a:stretch>
              <a:fillRect/>
            </a:stretch>
          </p:blipFill>
          <p:spPr>
            <a:xfrm>
              <a:off x="8520781" y="298055"/>
              <a:ext cx="1416486" cy="580257"/>
            </a:xfrm>
            <a:prstGeom prst="rect">
              <a:avLst/>
            </a:prstGeom>
          </p:spPr>
        </p:pic>
        <p:pic>
          <p:nvPicPr>
            <p:cNvPr id="15" name="object 15"/>
            <p:cNvPicPr/>
            <p:nvPr/>
          </p:nvPicPr>
          <p:blipFill>
            <a:blip r:embed="rId11" cstate="print"/>
            <a:stretch>
              <a:fillRect/>
            </a:stretch>
          </p:blipFill>
          <p:spPr>
            <a:xfrm>
              <a:off x="9827172" y="270366"/>
              <a:ext cx="1406225" cy="635634"/>
            </a:xfrm>
            <a:prstGeom prst="rect">
              <a:avLst/>
            </a:prstGeom>
          </p:spPr>
        </p:pic>
        <p:pic>
          <p:nvPicPr>
            <p:cNvPr id="16" name="object 16"/>
            <p:cNvPicPr/>
            <p:nvPr/>
          </p:nvPicPr>
          <p:blipFill>
            <a:blip r:embed="rId12" cstate="print"/>
            <a:stretch>
              <a:fillRect/>
            </a:stretch>
          </p:blipFill>
          <p:spPr>
            <a:xfrm>
              <a:off x="11289571" y="103918"/>
              <a:ext cx="777124" cy="858159"/>
            </a:xfrm>
            <a:prstGeom prst="rect">
              <a:avLst/>
            </a:prstGeom>
          </p:spPr>
        </p:pic>
      </p:grpSp>
      <p:graphicFrame>
        <p:nvGraphicFramePr>
          <p:cNvPr id="17" name="object 17"/>
          <p:cNvGraphicFramePr>
            <a:graphicFrameLocks noGrp="1"/>
          </p:cNvGraphicFramePr>
          <p:nvPr/>
        </p:nvGraphicFramePr>
        <p:xfrm>
          <a:off x="549939" y="4718136"/>
          <a:ext cx="6155055" cy="1825625"/>
        </p:xfrm>
        <a:graphic>
          <a:graphicData uri="http://schemas.openxmlformats.org/drawingml/2006/table">
            <a:tbl>
              <a:tblPr firstRow="1" bandRow="1">
                <a:tableStyleId>{2D5ABB26-0587-4C30-8999-92F81FD0307C}</a:tableStyleId>
              </a:tblPr>
              <a:tblGrid>
                <a:gridCol w="2661285">
                  <a:extLst>
                    <a:ext uri="{9D8B030D-6E8A-4147-A177-3AD203B41FA5}">
                      <a16:colId xmlns:a16="http://schemas.microsoft.com/office/drawing/2014/main" val="20000"/>
                    </a:ext>
                  </a:extLst>
                </a:gridCol>
                <a:gridCol w="3493770">
                  <a:extLst>
                    <a:ext uri="{9D8B030D-6E8A-4147-A177-3AD203B41FA5}">
                      <a16:colId xmlns:a16="http://schemas.microsoft.com/office/drawing/2014/main" val="20001"/>
                    </a:ext>
                  </a:extLst>
                </a:gridCol>
              </a:tblGrid>
              <a:tr h="365125">
                <a:tc>
                  <a:txBody>
                    <a:bodyPr/>
                    <a:lstStyle/>
                    <a:p>
                      <a:pPr algn="ctr">
                        <a:lnSpc>
                          <a:spcPct val="100000"/>
                        </a:lnSpc>
                        <a:spcBef>
                          <a:spcPts val="225"/>
                        </a:spcBef>
                      </a:pPr>
                      <a:r>
                        <a:rPr sz="1800" b="1" spc="-10" dirty="0">
                          <a:latin typeface="Times New Roman"/>
                          <a:cs typeface="Times New Roman"/>
                        </a:rPr>
                        <a:t>FULL</a:t>
                      </a:r>
                      <a:r>
                        <a:rPr sz="1800" b="1" spc="-80" dirty="0">
                          <a:latin typeface="Times New Roman"/>
                          <a:cs typeface="Times New Roman"/>
                        </a:rPr>
                        <a:t> </a:t>
                      </a:r>
                      <a:r>
                        <a:rPr sz="1800" b="1" spc="-20" dirty="0">
                          <a:latin typeface="Times New Roman"/>
                          <a:cs typeface="Times New Roman"/>
                        </a:rPr>
                        <a:t>NAME</a:t>
                      </a:r>
                      <a:endParaRPr sz="180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25"/>
                        </a:spcBef>
                      </a:pPr>
                      <a:r>
                        <a:rPr sz="1800" b="1" spc="-25" dirty="0">
                          <a:latin typeface="Times New Roman"/>
                          <a:cs typeface="Times New Roman"/>
                        </a:rPr>
                        <a:t>USN</a:t>
                      </a:r>
                      <a:endParaRPr sz="180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125">
                <a:tc>
                  <a:txBody>
                    <a:bodyPr/>
                    <a:lstStyle/>
                    <a:p>
                      <a:pPr algn="ctr">
                        <a:lnSpc>
                          <a:spcPct val="100000"/>
                        </a:lnSpc>
                        <a:spcBef>
                          <a:spcPts val="225"/>
                        </a:spcBef>
                      </a:pPr>
                      <a:r>
                        <a:rPr sz="1800" b="1" spc="-30" dirty="0">
                          <a:latin typeface="Times New Roman"/>
                          <a:cs typeface="Times New Roman"/>
                        </a:rPr>
                        <a:t>AMRUTH M</a:t>
                      </a:r>
                      <a:r>
                        <a:rPr sz="1800" b="1" spc="-70" dirty="0">
                          <a:latin typeface="Times New Roman"/>
                          <a:cs typeface="Times New Roman"/>
                        </a:rPr>
                        <a:t> </a:t>
                      </a:r>
                      <a:r>
                        <a:rPr sz="1800" b="1" spc="-20" dirty="0">
                          <a:latin typeface="Times New Roman"/>
                          <a:cs typeface="Times New Roman"/>
                        </a:rPr>
                        <a:t>KASHYAP</a:t>
                      </a:r>
                      <a:endParaRPr sz="180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25"/>
                        </a:spcBef>
                      </a:pPr>
                      <a:r>
                        <a:rPr sz="1800" b="1" spc="-10" dirty="0">
                          <a:latin typeface="Times New Roman"/>
                          <a:cs typeface="Times New Roman"/>
                        </a:rPr>
                        <a:t>1BI23ET004</a:t>
                      </a:r>
                      <a:endParaRPr sz="180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125">
                <a:tc>
                  <a:txBody>
                    <a:bodyPr/>
                    <a:lstStyle/>
                    <a:p>
                      <a:pPr algn="ctr">
                        <a:lnSpc>
                          <a:spcPct val="100000"/>
                        </a:lnSpc>
                        <a:spcBef>
                          <a:spcPts val="225"/>
                        </a:spcBef>
                      </a:pPr>
                      <a:r>
                        <a:rPr sz="1800" b="1" spc="-50" dirty="0">
                          <a:latin typeface="Times New Roman"/>
                          <a:cs typeface="Times New Roman"/>
                        </a:rPr>
                        <a:t>CHIRANTH</a:t>
                      </a:r>
                      <a:r>
                        <a:rPr sz="1800" b="1" spc="-70" dirty="0">
                          <a:latin typeface="Times New Roman"/>
                          <a:cs typeface="Times New Roman"/>
                        </a:rPr>
                        <a:t> </a:t>
                      </a:r>
                      <a:r>
                        <a:rPr sz="1800" b="1" spc="-20" dirty="0">
                          <a:latin typeface="Times New Roman"/>
                          <a:cs typeface="Times New Roman"/>
                        </a:rPr>
                        <a:t>B M</a:t>
                      </a:r>
                      <a:endParaRPr sz="180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25"/>
                        </a:spcBef>
                      </a:pPr>
                      <a:r>
                        <a:rPr sz="1800" b="1" spc="-10" dirty="0">
                          <a:latin typeface="Times New Roman"/>
                          <a:cs typeface="Times New Roman"/>
                        </a:rPr>
                        <a:t>1BI23ET012</a:t>
                      </a:r>
                      <a:endParaRPr sz="180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5125">
                <a:tc>
                  <a:txBody>
                    <a:bodyPr/>
                    <a:lstStyle/>
                    <a:p>
                      <a:pPr algn="ctr">
                        <a:lnSpc>
                          <a:spcPct val="100000"/>
                        </a:lnSpc>
                        <a:spcBef>
                          <a:spcPts val="225"/>
                        </a:spcBef>
                      </a:pPr>
                      <a:r>
                        <a:rPr sz="1800" b="1" dirty="0">
                          <a:latin typeface="Times New Roman"/>
                          <a:cs typeface="Times New Roman"/>
                        </a:rPr>
                        <a:t> </a:t>
                      </a:r>
                      <a:r>
                        <a:rPr sz="1800" b="1" spc="-90" dirty="0">
                          <a:latin typeface="Times New Roman"/>
                          <a:cs typeface="Times New Roman"/>
                        </a:rPr>
                        <a:t> </a:t>
                      </a:r>
                      <a:r>
                        <a:rPr sz="1800" b="1" spc="-25" dirty="0">
                          <a:latin typeface="Times New Roman"/>
                          <a:cs typeface="Times New Roman"/>
                        </a:rPr>
                        <a:t>NIHAL S</a:t>
                      </a:r>
                      <a:r>
                        <a:rPr sz="1800" b="1" spc="-30" dirty="0">
                          <a:latin typeface="Times New Roman"/>
                          <a:cs typeface="Times New Roman"/>
                        </a:rPr>
                        <a:t> </a:t>
                      </a:r>
                      <a:r>
                        <a:rPr sz="1800" b="1" spc="-10" dirty="0">
                          <a:latin typeface="Times New Roman"/>
                          <a:cs typeface="Times New Roman"/>
                        </a:rPr>
                        <a:t>JAMAKHANDI</a:t>
                      </a:r>
                      <a:endParaRPr sz="1800" dirty="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25"/>
                        </a:spcBef>
                      </a:pPr>
                      <a:r>
                        <a:rPr sz="1800" b="1" spc="-10" dirty="0">
                          <a:latin typeface="Times New Roman"/>
                          <a:cs typeface="Times New Roman"/>
                        </a:rPr>
                        <a:t>1BI23ET039</a:t>
                      </a:r>
                      <a:endParaRPr sz="180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5125">
                <a:tc>
                  <a:txBody>
                    <a:bodyPr/>
                    <a:lstStyle/>
                    <a:p>
                      <a:pPr algn="ctr">
                        <a:lnSpc>
                          <a:spcPct val="100000"/>
                        </a:lnSpc>
                        <a:spcBef>
                          <a:spcPts val="225"/>
                        </a:spcBef>
                      </a:pPr>
                      <a:r>
                        <a:rPr sz="1800" b="1" spc="-10" dirty="0">
                          <a:latin typeface="Times New Roman"/>
                          <a:cs typeface="Times New Roman"/>
                        </a:rPr>
                        <a:t>PRAJWAL</a:t>
                      </a:r>
                      <a:r>
                        <a:rPr sz="1800" b="1" spc="-155" dirty="0">
                          <a:latin typeface="Times New Roman"/>
                          <a:cs typeface="Times New Roman"/>
                        </a:rPr>
                        <a:t> </a:t>
                      </a:r>
                      <a:r>
                        <a:rPr sz="1800" b="1" spc="-20" dirty="0">
                          <a:latin typeface="Times New Roman"/>
                          <a:cs typeface="Times New Roman"/>
                        </a:rPr>
                        <a:t>S</a:t>
                      </a:r>
                      <a:endParaRPr sz="180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25"/>
                        </a:spcBef>
                      </a:pPr>
                      <a:r>
                        <a:rPr sz="1800" b="1" spc="-10" dirty="0">
                          <a:latin typeface="Times New Roman"/>
                          <a:cs typeface="Times New Roman"/>
                        </a:rPr>
                        <a:t>1BI23ET043</a:t>
                      </a:r>
                      <a:endParaRPr sz="1800" dirty="0">
                        <a:latin typeface="Times New Roman"/>
                        <a:cs typeface="Times New Roman"/>
                      </a:endParaRPr>
                    </a:p>
                  </a:txBody>
                  <a:tcPr marL="0" marR="0" marT="285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834804" y="433497"/>
            <a:ext cx="4518660" cy="391160"/>
          </a:xfrm>
          <a:prstGeom prst="rect">
            <a:avLst/>
          </a:prstGeom>
        </p:spPr>
        <p:txBody>
          <a:bodyPr vert="horz" wrap="square" lIns="0" tIns="12700" rIns="0" bIns="0" rtlCol="0">
            <a:spAutoFit/>
          </a:bodyPr>
          <a:lstStyle/>
          <a:p>
            <a:pPr marL="12700">
              <a:lnSpc>
                <a:spcPct val="100000"/>
              </a:lnSpc>
              <a:spcBef>
                <a:spcPts val="100"/>
              </a:spcBef>
            </a:pPr>
            <a:r>
              <a:rPr dirty="0"/>
              <a:t>VISION</a:t>
            </a:r>
            <a:r>
              <a:rPr spc="-75" dirty="0"/>
              <a:t> </a:t>
            </a:r>
            <a:r>
              <a:rPr dirty="0"/>
              <a:t>OF</a:t>
            </a:r>
            <a:r>
              <a:rPr spc="-150" dirty="0"/>
              <a:t> </a:t>
            </a:r>
            <a:r>
              <a:rPr dirty="0"/>
              <a:t>THE</a:t>
            </a:r>
            <a:r>
              <a:rPr spc="-50" dirty="0"/>
              <a:t> </a:t>
            </a:r>
            <a:r>
              <a:rPr spc="-20" dirty="0"/>
              <a:t>DEPARTMENT</a:t>
            </a:r>
          </a:p>
        </p:txBody>
      </p:sp>
      <p:sp>
        <p:nvSpPr>
          <p:cNvPr id="3" name="object 3"/>
          <p:cNvSpPr txBox="1"/>
          <p:nvPr/>
        </p:nvSpPr>
        <p:spPr>
          <a:xfrm>
            <a:off x="731786" y="923209"/>
            <a:ext cx="10708640" cy="4963160"/>
          </a:xfrm>
          <a:prstGeom prst="rect">
            <a:avLst/>
          </a:prstGeom>
        </p:spPr>
        <p:txBody>
          <a:bodyPr vert="horz" wrap="square" lIns="0" tIns="12700" rIns="0" bIns="0" rtlCol="0">
            <a:spAutoFit/>
          </a:bodyPr>
          <a:lstStyle/>
          <a:p>
            <a:pPr marL="12700" marR="12065">
              <a:lnSpc>
                <a:spcPct val="150000"/>
              </a:lnSpc>
              <a:spcBef>
                <a:spcPts val="100"/>
              </a:spcBef>
            </a:pPr>
            <a:r>
              <a:rPr sz="2000" dirty="0">
                <a:latin typeface="Times New Roman"/>
                <a:cs typeface="Times New Roman"/>
              </a:rPr>
              <a:t>Empower</a:t>
            </a:r>
            <a:r>
              <a:rPr sz="2000" spc="-5" dirty="0">
                <a:latin typeface="Times New Roman"/>
                <a:cs typeface="Times New Roman"/>
              </a:rPr>
              <a:t> </a:t>
            </a:r>
            <a:r>
              <a:rPr sz="2000" dirty="0">
                <a:latin typeface="Times New Roman"/>
                <a:cs typeface="Times New Roman"/>
              </a:rPr>
              <a:t>every</a:t>
            </a:r>
            <a:r>
              <a:rPr sz="2000" spc="5" dirty="0">
                <a:latin typeface="Times New Roman"/>
                <a:cs typeface="Times New Roman"/>
              </a:rPr>
              <a:t> </a:t>
            </a:r>
            <a:r>
              <a:rPr sz="2000" dirty="0">
                <a:latin typeface="Times New Roman"/>
                <a:cs typeface="Times New Roman"/>
              </a:rPr>
              <a:t>student</a:t>
            </a:r>
            <a:r>
              <a:rPr sz="2000" spc="1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Creative</a:t>
            </a:r>
            <a:r>
              <a:rPr sz="2000" spc="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Productive</a:t>
            </a:r>
            <a:r>
              <a:rPr sz="2000" spc="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field</a:t>
            </a:r>
            <a:r>
              <a:rPr sz="2000" spc="10"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Electronics</a:t>
            </a:r>
            <a:r>
              <a:rPr sz="2000" spc="10"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spc="-10" dirty="0">
                <a:latin typeface="Times New Roman"/>
                <a:cs typeface="Times New Roman"/>
              </a:rPr>
              <a:t>Telecommunication </a:t>
            </a:r>
            <a:r>
              <a:rPr sz="2000" dirty="0">
                <a:latin typeface="Times New Roman"/>
                <a:cs typeface="Times New Roman"/>
              </a:rPr>
              <a:t>Engineering</a:t>
            </a:r>
            <a:r>
              <a:rPr sz="2000" spc="-20" dirty="0">
                <a:latin typeface="Times New Roman"/>
                <a:cs typeface="Times New Roman"/>
              </a:rPr>
              <a:t> </a:t>
            </a:r>
            <a:r>
              <a:rPr sz="2000" dirty="0">
                <a:latin typeface="Times New Roman"/>
                <a:cs typeface="Times New Roman"/>
              </a:rPr>
              <a:t>by</a:t>
            </a:r>
            <a:r>
              <a:rPr sz="2000" spc="-15" dirty="0">
                <a:latin typeface="Times New Roman"/>
                <a:cs typeface="Times New Roman"/>
              </a:rPr>
              <a:t> </a:t>
            </a:r>
            <a:r>
              <a:rPr sz="2000" dirty="0">
                <a:latin typeface="Times New Roman"/>
                <a:cs typeface="Times New Roman"/>
              </a:rPr>
              <a:t>imparting</a:t>
            </a:r>
            <a:r>
              <a:rPr sz="2000" spc="-15" dirty="0">
                <a:latin typeface="Times New Roman"/>
                <a:cs typeface="Times New Roman"/>
              </a:rPr>
              <a:t> </a:t>
            </a:r>
            <a:r>
              <a:rPr sz="2000" dirty="0">
                <a:latin typeface="Times New Roman"/>
                <a:cs typeface="Times New Roman"/>
              </a:rPr>
              <a:t>excellent</a:t>
            </a:r>
            <a:r>
              <a:rPr sz="2000" spc="-55" dirty="0">
                <a:latin typeface="Times New Roman"/>
                <a:cs typeface="Times New Roman"/>
              </a:rPr>
              <a:t> </a:t>
            </a:r>
            <a:r>
              <a:rPr sz="2000" spc="-10" dirty="0">
                <a:latin typeface="Times New Roman"/>
                <a:cs typeface="Times New Roman"/>
              </a:rPr>
              <a:t>Technical</a:t>
            </a:r>
            <a:r>
              <a:rPr sz="2000" spc="-20" dirty="0">
                <a:latin typeface="Times New Roman"/>
                <a:cs typeface="Times New Roman"/>
              </a:rPr>
              <a:t> </a:t>
            </a:r>
            <a:r>
              <a:rPr sz="2000" dirty="0">
                <a:latin typeface="Times New Roman"/>
                <a:cs typeface="Times New Roman"/>
              </a:rPr>
              <a:t>Education</a:t>
            </a:r>
            <a:r>
              <a:rPr sz="2000" spc="-1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inculcating</a:t>
            </a:r>
            <a:r>
              <a:rPr sz="2000" spc="-15" dirty="0">
                <a:latin typeface="Times New Roman"/>
                <a:cs typeface="Times New Roman"/>
              </a:rPr>
              <a:t> </a:t>
            </a:r>
            <a:r>
              <a:rPr sz="2000" dirty="0">
                <a:latin typeface="Times New Roman"/>
                <a:cs typeface="Times New Roman"/>
              </a:rPr>
              <a:t>Human</a:t>
            </a:r>
            <a:r>
              <a:rPr sz="2000" spc="-55" dirty="0">
                <a:latin typeface="Times New Roman"/>
                <a:cs typeface="Times New Roman"/>
              </a:rPr>
              <a:t> </a:t>
            </a:r>
            <a:r>
              <a:rPr sz="2000" spc="-10" dirty="0">
                <a:latin typeface="Times New Roman"/>
                <a:cs typeface="Times New Roman"/>
              </a:rPr>
              <a:t>Values.</a:t>
            </a:r>
            <a:endParaRPr sz="2000" dirty="0">
              <a:latin typeface="Times New Roman"/>
              <a:cs typeface="Times New Roman"/>
            </a:endParaRPr>
          </a:p>
          <a:p>
            <a:pPr>
              <a:lnSpc>
                <a:spcPct val="100000"/>
              </a:lnSpc>
            </a:pPr>
            <a:endParaRPr sz="2000" dirty="0">
              <a:latin typeface="Times New Roman"/>
              <a:cs typeface="Times New Roman"/>
            </a:endParaRPr>
          </a:p>
          <a:p>
            <a:pPr>
              <a:lnSpc>
                <a:spcPct val="100000"/>
              </a:lnSpc>
              <a:spcBef>
                <a:spcPts val="900"/>
              </a:spcBef>
            </a:pPr>
            <a:endParaRPr sz="2000" dirty="0">
              <a:latin typeface="Times New Roman"/>
              <a:cs typeface="Times New Roman"/>
            </a:endParaRPr>
          </a:p>
          <a:p>
            <a:pPr marL="15875" algn="ctr">
              <a:lnSpc>
                <a:spcPct val="100000"/>
              </a:lnSpc>
              <a:spcBef>
                <a:spcPts val="5"/>
              </a:spcBef>
            </a:pPr>
            <a:r>
              <a:rPr sz="2400" b="1" dirty="0">
                <a:latin typeface="Times New Roman"/>
                <a:cs typeface="Times New Roman"/>
              </a:rPr>
              <a:t>MISSION</a:t>
            </a:r>
            <a:r>
              <a:rPr sz="2400" b="1" spc="-90" dirty="0">
                <a:latin typeface="Times New Roman"/>
                <a:cs typeface="Times New Roman"/>
              </a:rPr>
              <a:t> </a:t>
            </a:r>
            <a:r>
              <a:rPr sz="2400" b="1" dirty="0">
                <a:latin typeface="Times New Roman"/>
                <a:cs typeface="Times New Roman"/>
              </a:rPr>
              <a:t>OF</a:t>
            </a:r>
            <a:r>
              <a:rPr sz="2400" b="1" spc="-150" dirty="0">
                <a:latin typeface="Times New Roman"/>
                <a:cs typeface="Times New Roman"/>
              </a:rPr>
              <a:t> </a:t>
            </a:r>
            <a:r>
              <a:rPr sz="2400" b="1" dirty="0">
                <a:latin typeface="Times New Roman"/>
                <a:cs typeface="Times New Roman"/>
              </a:rPr>
              <a:t>THE</a:t>
            </a:r>
            <a:r>
              <a:rPr sz="2400" b="1" spc="-55" dirty="0">
                <a:latin typeface="Times New Roman"/>
                <a:cs typeface="Times New Roman"/>
              </a:rPr>
              <a:t> </a:t>
            </a:r>
            <a:r>
              <a:rPr sz="2400" b="1" spc="-10" dirty="0">
                <a:latin typeface="Times New Roman"/>
                <a:cs typeface="Times New Roman"/>
              </a:rPr>
              <a:t>DEPARTMENT</a:t>
            </a:r>
            <a:endParaRPr sz="2400" dirty="0">
              <a:latin typeface="Times New Roman"/>
              <a:cs typeface="Times New Roman"/>
            </a:endParaRPr>
          </a:p>
          <a:p>
            <a:pPr marL="298450" marR="8255" indent="-247650">
              <a:lnSpc>
                <a:spcPct val="150000"/>
              </a:lnSpc>
              <a:spcBef>
                <a:spcPts val="1695"/>
              </a:spcBef>
              <a:buFont typeface="Arial"/>
              <a:buChar char="•"/>
              <a:tabLst>
                <a:tab pos="298450" algn="l"/>
              </a:tabLst>
            </a:pPr>
            <a:r>
              <a:rPr sz="2000" spc="-10" dirty="0">
                <a:latin typeface="Times New Roman"/>
                <a:cs typeface="Times New Roman"/>
              </a:rPr>
              <a:t>To</a:t>
            </a:r>
            <a:r>
              <a:rPr sz="2000" spc="-5" dirty="0">
                <a:latin typeface="Times New Roman"/>
                <a:cs typeface="Times New Roman"/>
              </a:rPr>
              <a:t> </a:t>
            </a:r>
            <a:r>
              <a:rPr sz="2000" dirty="0">
                <a:latin typeface="Times New Roman"/>
                <a:cs typeface="Times New Roman"/>
              </a:rPr>
              <a:t>make</a:t>
            </a:r>
            <a:r>
              <a:rPr sz="2000" spc="-5" dirty="0">
                <a:latin typeface="Times New Roman"/>
                <a:cs typeface="Times New Roman"/>
              </a:rPr>
              <a:t> </a:t>
            </a:r>
            <a:r>
              <a:rPr sz="2000" dirty="0">
                <a:latin typeface="Times New Roman"/>
                <a:cs typeface="Times New Roman"/>
              </a:rPr>
              <a:t>our</a:t>
            </a:r>
            <a:r>
              <a:rPr sz="2000" spc="-5" dirty="0">
                <a:latin typeface="Times New Roman"/>
                <a:cs typeface="Times New Roman"/>
              </a:rPr>
              <a:t> </a:t>
            </a:r>
            <a:r>
              <a:rPr sz="2000" dirty="0">
                <a:latin typeface="Times New Roman"/>
                <a:cs typeface="Times New Roman"/>
              </a:rPr>
              <a:t>Students</a:t>
            </a:r>
            <a:r>
              <a:rPr sz="2000" spc="-5" dirty="0">
                <a:latin typeface="Times New Roman"/>
                <a:cs typeface="Times New Roman"/>
              </a:rPr>
              <a:t> </a:t>
            </a:r>
            <a:r>
              <a:rPr sz="2000" dirty="0">
                <a:latin typeface="Times New Roman"/>
                <a:cs typeface="Times New Roman"/>
              </a:rPr>
              <a:t>acquaint</a:t>
            </a:r>
            <a:r>
              <a:rPr sz="2000" spc="-5" dirty="0">
                <a:latin typeface="Times New Roman"/>
                <a:cs typeface="Times New Roman"/>
              </a:rPr>
              <a:t> </a:t>
            </a:r>
            <a:r>
              <a:rPr sz="2000" dirty="0">
                <a:latin typeface="Times New Roman"/>
                <a:cs typeface="Times New Roman"/>
              </a:rPr>
              <a:t>with</a:t>
            </a:r>
            <a:r>
              <a:rPr sz="2000" spc="-5"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Global</a:t>
            </a:r>
            <a:r>
              <a:rPr sz="2000" spc="-5" dirty="0">
                <a:latin typeface="Times New Roman"/>
                <a:cs typeface="Times New Roman"/>
              </a:rPr>
              <a:t> </a:t>
            </a:r>
            <a:r>
              <a:rPr sz="2000" dirty="0">
                <a:latin typeface="Times New Roman"/>
                <a:cs typeface="Times New Roman"/>
              </a:rPr>
              <a:t>requirements such</a:t>
            </a:r>
            <a:r>
              <a:rPr sz="2000" spc="-5" dirty="0">
                <a:latin typeface="Times New Roman"/>
                <a:cs typeface="Times New Roman"/>
              </a:rPr>
              <a:t> </a:t>
            </a:r>
            <a:r>
              <a:rPr sz="2000" dirty="0">
                <a:latin typeface="Times New Roman"/>
                <a:cs typeface="Times New Roman"/>
              </a:rPr>
              <a:t>as</a:t>
            </a:r>
            <a:r>
              <a:rPr sz="2000" spc="-5" dirty="0">
                <a:latin typeface="Times New Roman"/>
                <a:cs typeface="Times New Roman"/>
              </a:rPr>
              <a:t> </a:t>
            </a:r>
            <a:r>
              <a:rPr sz="2000" dirty="0">
                <a:latin typeface="Times New Roman"/>
                <a:cs typeface="Times New Roman"/>
              </a:rPr>
              <a:t>Problem</a:t>
            </a:r>
            <a:r>
              <a:rPr sz="2000" spc="-5" dirty="0">
                <a:latin typeface="Times New Roman"/>
                <a:cs typeface="Times New Roman"/>
              </a:rPr>
              <a:t> </a:t>
            </a:r>
            <a:r>
              <a:rPr sz="2000" dirty="0">
                <a:latin typeface="Times New Roman"/>
                <a:cs typeface="Times New Roman"/>
              </a:rPr>
              <a:t>Solving</a:t>
            </a:r>
            <a:r>
              <a:rPr sz="2000" spc="-5" dirty="0">
                <a:latin typeface="Times New Roman"/>
                <a:cs typeface="Times New Roman"/>
              </a:rPr>
              <a:t> </a:t>
            </a:r>
            <a:r>
              <a:rPr sz="2000" dirty="0">
                <a:latin typeface="Times New Roman"/>
                <a:cs typeface="Times New Roman"/>
              </a:rPr>
              <a:t>Skills,</a:t>
            </a:r>
            <a:r>
              <a:rPr sz="2000" spc="-5" dirty="0">
                <a:latin typeface="Times New Roman"/>
                <a:cs typeface="Times New Roman"/>
              </a:rPr>
              <a:t> </a:t>
            </a:r>
            <a:r>
              <a:rPr sz="2000" spc="-10" dirty="0">
                <a:latin typeface="Times New Roman"/>
                <a:cs typeface="Times New Roman"/>
              </a:rPr>
              <a:t>Cultural Sensitivity,</a:t>
            </a:r>
            <a:r>
              <a:rPr sz="2000" spc="-25" dirty="0">
                <a:latin typeface="Times New Roman"/>
                <a:cs typeface="Times New Roman"/>
              </a:rPr>
              <a:t> </a:t>
            </a:r>
            <a:r>
              <a:rPr sz="2000" dirty="0">
                <a:latin typeface="Times New Roman"/>
                <a:cs typeface="Times New Roman"/>
              </a:rPr>
              <a:t>Ethical</a:t>
            </a:r>
            <a:r>
              <a:rPr sz="2000" spc="-20" dirty="0">
                <a:latin typeface="Times New Roman"/>
                <a:cs typeface="Times New Roman"/>
              </a:rPr>
              <a:t> </a:t>
            </a:r>
            <a:r>
              <a:rPr sz="2000" dirty="0">
                <a:latin typeface="Times New Roman"/>
                <a:cs typeface="Times New Roman"/>
              </a:rPr>
              <a:t>Behaviour</a:t>
            </a:r>
            <a:r>
              <a:rPr sz="2000" spc="-1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Social</a:t>
            </a:r>
            <a:r>
              <a:rPr sz="2000" spc="-15" dirty="0">
                <a:latin typeface="Times New Roman"/>
                <a:cs typeface="Times New Roman"/>
              </a:rPr>
              <a:t> </a:t>
            </a:r>
            <a:r>
              <a:rPr sz="2000" spc="-10" dirty="0">
                <a:latin typeface="Times New Roman"/>
                <a:cs typeface="Times New Roman"/>
              </a:rPr>
              <a:t>Responsibility.</a:t>
            </a:r>
            <a:endParaRPr sz="2000" dirty="0">
              <a:latin typeface="Times New Roman"/>
              <a:cs typeface="Times New Roman"/>
            </a:endParaRPr>
          </a:p>
          <a:p>
            <a:pPr marL="298450" marR="5080" indent="-247650">
              <a:lnSpc>
                <a:spcPct val="150000"/>
              </a:lnSpc>
              <a:buFont typeface="Arial"/>
              <a:buChar char="•"/>
              <a:tabLst>
                <a:tab pos="298450" algn="l"/>
              </a:tabLst>
            </a:pPr>
            <a:r>
              <a:rPr sz="2000" dirty="0">
                <a:latin typeface="Times New Roman"/>
                <a:cs typeface="Times New Roman"/>
              </a:rPr>
              <a:t>To</a:t>
            </a:r>
            <a:r>
              <a:rPr sz="2000" spc="50" dirty="0">
                <a:latin typeface="Times New Roman"/>
                <a:cs typeface="Times New Roman"/>
              </a:rPr>
              <a:t> </a:t>
            </a:r>
            <a:r>
              <a:rPr sz="2000" dirty="0">
                <a:latin typeface="Times New Roman"/>
                <a:cs typeface="Times New Roman"/>
              </a:rPr>
              <a:t>Motivate</a:t>
            </a:r>
            <a:r>
              <a:rPr sz="2000" spc="45" dirty="0">
                <a:latin typeface="Times New Roman"/>
                <a:cs typeface="Times New Roman"/>
              </a:rPr>
              <a:t> </a:t>
            </a:r>
            <a:r>
              <a:rPr sz="2000" dirty="0">
                <a:latin typeface="Times New Roman"/>
                <a:cs typeface="Times New Roman"/>
              </a:rPr>
              <a:t>our</a:t>
            </a:r>
            <a:r>
              <a:rPr sz="2000" spc="55" dirty="0">
                <a:latin typeface="Times New Roman"/>
                <a:cs typeface="Times New Roman"/>
              </a:rPr>
              <a:t> </a:t>
            </a:r>
            <a:r>
              <a:rPr sz="2000" dirty="0">
                <a:latin typeface="Times New Roman"/>
                <a:cs typeface="Times New Roman"/>
              </a:rPr>
              <a:t>Students</a:t>
            </a:r>
            <a:r>
              <a:rPr sz="2000" spc="50" dirty="0">
                <a:latin typeface="Times New Roman"/>
                <a:cs typeface="Times New Roman"/>
              </a:rPr>
              <a:t> </a:t>
            </a:r>
            <a:r>
              <a:rPr sz="2000" dirty="0">
                <a:latin typeface="Times New Roman"/>
                <a:cs typeface="Times New Roman"/>
              </a:rPr>
              <a:t>to</a:t>
            </a:r>
            <a:r>
              <a:rPr sz="2000" spc="55" dirty="0">
                <a:latin typeface="Times New Roman"/>
                <a:cs typeface="Times New Roman"/>
              </a:rPr>
              <a:t> </a:t>
            </a:r>
            <a:r>
              <a:rPr sz="2000" dirty="0">
                <a:latin typeface="Times New Roman"/>
                <a:cs typeface="Times New Roman"/>
              </a:rPr>
              <a:t>pursue</a:t>
            </a:r>
            <a:r>
              <a:rPr sz="2000" spc="45" dirty="0">
                <a:latin typeface="Times New Roman"/>
                <a:cs typeface="Times New Roman"/>
              </a:rPr>
              <a:t> </a:t>
            </a:r>
            <a:r>
              <a:rPr sz="2000" dirty="0">
                <a:latin typeface="Times New Roman"/>
                <a:cs typeface="Times New Roman"/>
              </a:rPr>
              <a:t>Higher</a:t>
            </a:r>
            <a:r>
              <a:rPr sz="2000" spc="55" dirty="0">
                <a:latin typeface="Times New Roman"/>
                <a:cs typeface="Times New Roman"/>
              </a:rPr>
              <a:t> </a:t>
            </a:r>
            <a:r>
              <a:rPr sz="2000" dirty="0">
                <a:latin typeface="Times New Roman"/>
                <a:cs typeface="Times New Roman"/>
              </a:rPr>
              <a:t>Education</a:t>
            </a:r>
            <a:r>
              <a:rPr sz="2000" spc="50" dirty="0">
                <a:latin typeface="Times New Roman"/>
                <a:cs typeface="Times New Roman"/>
              </a:rPr>
              <a:t> </a:t>
            </a:r>
            <a:r>
              <a:rPr sz="2000" dirty="0">
                <a:latin typeface="Times New Roman"/>
                <a:cs typeface="Times New Roman"/>
              </a:rPr>
              <a:t>and</a:t>
            </a:r>
            <a:r>
              <a:rPr sz="2000" spc="55" dirty="0">
                <a:latin typeface="Times New Roman"/>
                <a:cs typeface="Times New Roman"/>
              </a:rPr>
              <a:t> </a:t>
            </a:r>
            <a:r>
              <a:rPr sz="2000" dirty="0">
                <a:latin typeface="Times New Roman"/>
                <a:cs typeface="Times New Roman"/>
              </a:rPr>
              <a:t>engage</a:t>
            </a:r>
            <a:r>
              <a:rPr sz="2000" spc="45" dirty="0">
                <a:latin typeface="Times New Roman"/>
                <a:cs typeface="Times New Roman"/>
              </a:rPr>
              <a:t> </a:t>
            </a:r>
            <a:r>
              <a:rPr sz="2000" dirty="0">
                <a:latin typeface="Times New Roman"/>
                <a:cs typeface="Times New Roman"/>
              </a:rPr>
              <a:t>in</a:t>
            </a:r>
            <a:r>
              <a:rPr sz="2000" spc="55" dirty="0">
                <a:latin typeface="Times New Roman"/>
                <a:cs typeface="Times New Roman"/>
              </a:rPr>
              <a:t> </a:t>
            </a:r>
            <a:r>
              <a:rPr sz="2000" dirty="0">
                <a:latin typeface="Times New Roman"/>
                <a:cs typeface="Times New Roman"/>
              </a:rPr>
              <a:t>continuous</a:t>
            </a:r>
            <a:r>
              <a:rPr sz="2000" spc="50" dirty="0">
                <a:latin typeface="Times New Roman"/>
                <a:cs typeface="Times New Roman"/>
              </a:rPr>
              <a:t> </a:t>
            </a:r>
            <a:r>
              <a:rPr sz="2000" dirty="0">
                <a:latin typeface="Times New Roman"/>
                <a:cs typeface="Times New Roman"/>
              </a:rPr>
              <a:t>up-gradation</a:t>
            </a:r>
            <a:r>
              <a:rPr sz="2000" spc="55" dirty="0">
                <a:latin typeface="Times New Roman"/>
                <a:cs typeface="Times New Roman"/>
              </a:rPr>
              <a:t> </a:t>
            </a:r>
            <a:r>
              <a:rPr sz="2000" dirty="0">
                <a:latin typeface="Times New Roman"/>
                <a:cs typeface="Times New Roman"/>
              </a:rPr>
              <a:t>of</a:t>
            </a:r>
            <a:r>
              <a:rPr sz="2000" spc="50" dirty="0">
                <a:latin typeface="Times New Roman"/>
                <a:cs typeface="Times New Roman"/>
              </a:rPr>
              <a:t> </a:t>
            </a:r>
            <a:r>
              <a:rPr sz="2000" spc="-10" dirty="0">
                <a:latin typeface="Times New Roman"/>
                <a:cs typeface="Times New Roman"/>
              </a:rPr>
              <a:t>their </a:t>
            </a:r>
            <a:r>
              <a:rPr sz="2000" dirty="0">
                <a:latin typeface="Times New Roman"/>
                <a:cs typeface="Times New Roman"/>
              </a:rPr>
              <a:t>Professional</a:t>
            </a:r>
            <a:r>
              <a:rPr sz="2000" spc="-60" dirty="0">
                <a:latin typeface="Times New Roman"/>
                <a:cs typeface="Times New Roman"/>
              </a:rPr>
              <a:t> </a:t>
            </a:r>
            <a:r>
              <a:rPr sz="2000" spc="-10" dirty="0">
                <a:latin typeface="Times New Roman"/>
                <a:cs typeface="Times New Roman"/>
              </a:rPr>
              <a:t>Skills.</a:t>
            </a:r>
            <a:endParaRPr sz="2000" dirty="0">
              <a:latin typeface="Times New Roman"/>
              <a:cs typeface="Times New Roman"/>
            </a:endParaRPr>
          </a:p>
          <a:p>
            <a:pPr marL="298450" marR="53975" indent="-247650">
              <a:lnSpc>
                <a:spcPct val="150000"/>
              </a:lnSpc>
              <a:buFont typeface="Arial"/>
              <a:buChar char="•"/>
              <a:tabLst>
                <a:tab pos="298450" algn="l"/>
              </a:tabLst>
            </a:pPr>
            <a:r>
              <a:rPr sz="2000" dirty="0">
                <a:latin typeface="Times New Roman"/>
                <a:cs typeface="Times New Roman"/>
              </a:rPr>
              <a:t>To</a:t>
            </a:r>
            <a:r>
              <a:rPr sz="2000" spc="120" dirty="0">
                <a:latin typeface="Times New Roman"/>
                <a:cs typeface="Times New Roman"/>
              </a:rPr>
              <a:t> </a:t>
            </a:r>
            <a:r>
              <a:rPr sz="2000" dirty="0">
                <a:latin typeface="Times New Roman"/>
                <a:cs typeface="Times New Roman"/>
              </a:rPr>
              <a:t>encourage</a:t>
            </a:r>
            <a:r>
              <a:rPr sz="2000" spc="125" dirty="0">
                <a:latin typeface="Times New Roman"/>
                <a:cs typeface="Times New Roman"/>
              </a:rPr>
              <a:t> </a:t>
            </a:r>
            <a:r>
              <a:rPr sz="2000" dirty="0">
                <a:latin typeface="Times New Roman"/>
                <a:cs typeface="Times New Roman"/>
              </a:rPr>
              <a:t>students</a:t>
            </a:r>
            <a:r>
              <a:rPr sz="2000" spc="125" dirty="0">
                <a:latin typeface="Times New Roman"/>
                <a:cs typeface="Times New Roman"/>
              </a:rPr>
              <a:t> </a:t>
            </a:r>
            <a:r>
              <a:rPr sz="2000" dirty="0">
                <a:latin typeface="Times New Roman"/>
                <a:cs typeface="Times New Roman"/>
              </a:rPr>
              <a:t>to</a:t>
            </a:r>
            <a:r>
              <a:rPr sz="2000" spc="125" dirty="0">
                <a:latin typeface="Times New Roman"/>
                <a:cs typeface="Times New Roman"/>
              </a:rPr>
              <a:t> </a:t>
            </a:r>
            <a:r>
              <a:rPr sz="2000" dirty="0">
                <a:latin typeface="Times New Roman"/>
                <a:cs typeface="Times New Roman"/>
              </a:rPr>
              <a:t>develop</a:t>
            </a:r>
            <a:r>
              <a:rPr sz="2000" spc="125" dirty="0">
                <a:latin typeface="Times New Roman"/>
                <a:cs typeface="Times New Roman"/>
              </a:rPr>
              <a:t> </a:t>
            </a:r>
            <a:r>
              <a:rPr sz="2000" dirty="0">
                <a:latin typeface="Times New Roman"/>
                <a:cs typeface="Times New Roman"/>
              </a:rPr>
              <a:t>Communication</a:t>
            </a:r>
            <a:r>
              <a:rPr sz="2000" spc="125" dirty="0">
                <a:latin typeface="Times New Roman"/>
                <a:cs typeface="Times New Roman"/>
              </a:rPr>
              <a:t> </a:t>
            </a:r>
            <a:r>
              <a:rPr sz="2000" dirty="0">
                <a:latin typeface="Times New Roman"/>
                <a:cs typeface="Times New Roman"/>
              </a:rPr>
              <a:t>Skills,</a:t>
            </a:r>
            <a:r>
              <a:rPr sz="2000" spc="125" dirty="0">
                <a:latin typeface="Times New Roman"/>
                <a:cs typeface="Times New Roman"/>
              </a:rPr>
              <a:t> </a:t>
            </a:r>
            <a:r>
              <a:rPr sz="2000" dirty="0">
                <a:latin typeface="Times New Roman"/>
                <a:cs typeface="Times New Roman"/>
              </a:rPr>
              <a:t>Professional</a:t>
            </a:r>
            <a:r>
              <a:rPr sz="2000" spc="90" dirty="0">
                <a:latin typeface="Times New Roman"/>
                <a:cs typeface="Times New Roman"/>
              </a:rPr>
              <a:t> </a:t>
            </a:r>
            <a:r>
              <a:rPr sz="2000" spc="-10" dirty="0">
                <a:latin typeface="Times New Roman"/>
                <a:cs typeface="Times New Roman"/>
              </a:rPr>
              <a:t>Values,</a:t>
            </a:r>
            <a:r>
              <a:rPr sz="2000" spc="125" dirty="0">
                <a:latin typeface="Times New Roman"/>
                <a:cs typeface="Times New Roman"/>
              </a:rPr>
              <a:t> </a:t>
            </a:r>
            <a:r>
              <a:rPr sz="2000" dirty="0">
                <a:latin typeface="Times New Roman"/>
                <a:cs typeface="Times New Roman"/>
              </a:rPr>
              <a:t>and</a:t>
            </a:r>
            <a:r>
              <a:rPr sz="2000" spc="125" dirty="0">
                <a:latin typeface="Times New Roman"/>
                <a:cs typeface="Times New Roman"/>
              </a:rPr>
              <a:t> </a:t>
            </a:r>
            <a:r>
              <a:rPr sz="2000" dirty="0">
                <a:latin typeface="Times New Roman"/>
                <a:cs typeface="Times New Roman"/>
              </a:rPr>
              <a:t>Positive</a:t>
            </a:r>
            <a:r>
              <a:rPr sz="2000" spc="20" dirty="0">
                <a:latin typeface="Times New Roman"/>
                <a:cs typeface="Times New Roman"/>
              </a:rPr>
              <a:t> </a:t>
            </a:r>
            <a:r>
              <a:rPr sz="2000" spc="-10" dirty="0">
                <a:latin typeface="Times New Roman"/>
                <a:cs typeface="Times New Roman"/>
              </a:rPr>
              <a:t>Attitude </a:t>
            </a:r>
            <a:r>
              <a:rPr sz="2000" dirty="0">
                <a:latin typeface="Times New Roman"/>
                <a:cs typeface="Times New Roman"/>
              </a:rPr>
              <a:t>that</a:t>
            </a:r>
            <a:r>
              <a:rPr sz="2000" spc="-20" dirty="0">
                <a:latin typeface="Times New Roman"/>
                <a:cs typeface="Times New Roman"/>
              </a:rPr>
              <a:t> </a:t>
            </a:r>
            <a:r>
              <a:rPr sz="2000" dirty="0">
                <a:latin typeface="Times New Roman"/>
                <a:cs typeface="Times New Roman"/>
              </a:rPr>
              <a:t>in</a:t>
            </a:r>
            <a:r>
              <a:rPr sz="2000" spc="-5" dirty="0">
                <a:latin typeface="Times New Roman"/>
                <a:cs typeface="Times New Roman"/>
              </a:rPr>
              <a:t> </a:t>
            </a:r>
            <a:r>
              <a:rPr sz="2000" dirty="0">
                <a:latin typeface="Times New Roman"/>
                <a:cs typeface="Times New Roman"/>
              </a:rPr>
              <a:t>turn</a:t>
            </a:r>
            <a:r>
              <a:rPr sz="2000" spc="-5" dirty="0">
                <a:latin typeface="Times New Roman"/>
                <a:cs typeface="Times New Roman"/>
              </a:rPr>
              <a:t> </a:t>
            </a:r>
            <a:r>
              <a:rPr sz="2000" dirty="0">
                <a:latin typeface="Times New Roman"/>
                <a:cs typeface="Times New Roman"/>
              </a:rPr>
              <a:t>leads</a:t>
            </a:r>
            <a:r>
              <a:rPr sz="2000" spc="-1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fostering</a:t>
            </a:r>
            <a:r>
              <a:rPr sz="2000" spc="-5" dirty="0">
                <a:latin typeface="Times New Roman"/>
                <a:cs typeface="Times New Roman"/>
              </a:rPr>
              <a:t> </a:t>
            </a:r>
            <a:r>
              <a:rPr sz="2000" dirty="0">
                <a:latin typeface="Times New Roman"/>
                <a:cs typeface="Times New Roman"/>
              </a:rPr>
              <a:t>Leadership</a:t>
            </a:r>
            <a:r>
              <a:rPr sz="2000" spc="-5" dirty="0">
                <a:latin typeface="Times New Roman"/>
                <a:cs typeface="Times New Roman"/>
              </a:rPr>
              <a:t> </a:t>
            </a:r>
            <a:r>
              <a:rPr sz="2000" spc="-10" dirty="0">
                <a:latin typeface="Times New Roman"/>
                <a:cs typeface="Times New Roman"/>
              </a:rPr>
              <a:t>Qualities.</a:t>
            </a:r>
            <a:endParaRPr sz="2000" dirty="0">
              <a:latin typeface="Times New Roman"/>
              <a:cs typeface="Times New Roman"/>
            </a:endParaRPr>
          </a:p>
        </p:txBody>
      </p:sp>
      <p:sp>
        <p:nvSpPr>
          <p:cNvPr id="7" name="Date Placeholder 17">
            <a:extLst>
              <a:ext uri="{FF2B5EF4-FFF2-40B4-BE49-F238E27FC236}">
                <a16:creationId xmlns:a16="http://schemas.microsoft.com/office/drawing/2014/main" id="{52001E95-7ECD-E2F0-A950-75148BCCB727}"/>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8" name="Footer Placeholder 18">
            <a:extLst>
              <a:ext uri="{FF2B5EF4-FFF2-40B4-BE49-F238E27FC236}">
                <a16:creationId xmlns:a16="http://schemas.microsoft.com/office/drawing/2014/main" id="{EB29AAE7-5EF8-C55D-0556-5F681726998D}"/>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12" name="Slide Number Placeholder 19">
            <a:extLst>
              <a:ext uri="{FF2B5EF4-FFF2-40B4-BE49-F238E27FC236}">
                <a16:creationId xmlns:a16="http://schemas.microsoft.com/office/drawing/2014/main" id="{CBBDA5A4-9801-1DD2-BD4C-A9A6F141851A}"/>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2</a:t>
            </a:fld>
            <a:endParaRPr lang="en-IN" sz="1200" b="1" dirty="0">
              <a:solidFill>
                <a:schemeClr val="accent1">
                  <a:lumMod val="75000"/>
                </a:schemeClr>
              </a:solidFill>
              <a:latin typeface="+mj-lt"/>
            </a:endParaRPr>
          </a:p>
        </p:txBody>
      </p:sp>
      <p:sp>
        <p:nvSpPr>
          <p:cNvPr id="13" name="object 8">
            <a:extLst>
              <a:ext uri="{FF2B5EF4-FFF2-40B4-BE49-F238E27FC236}">
                <a16:creationId xmlns:a16="http://schemas.microsoft.com/office/drawing/2014/main" id="{999A7935-D285-86EA-53E8-2FF79165642D}"/>
              </a:ext>
            </a:extLst>
          </p:cNvPr>
          <p:cNvSpPr/>
          <p:nvPr/>
        </p:nvSpPr>
        <p:spPr>
          <a:xfrm>
            <a:off x="11630189"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954384" y="1415843"/>
            <a:ext cx="2289175" cy="519430"/>
          </a:xfrm>
          <a:prstGeom prst="rect">
            <a:avLst/>
          </a:prstGeom>
        </p:spPr>
        <p:txBody>
          <a:bodyPr vert="horz" wrap="square" lIns="0" tIns="17780" rIns="0" bIns="0" rtlCol="0">
            <a:spAutoFit/>
          </a:bodyPr>
          <a:lstStyle/>
          <a:p>
            <a:pPr marL="12700">
              <a:lnSpc>
                <a:spcPct val="100000"/>
              </a:lnSpc>
              <a:spcBef>
                <a:spcPts val="140"/>
              </a:spcBef>
            </a:pPr>
            <a:r>
              <a:rPr sz="3200" spc="-10" dirty="0"/>
              <a:t>CONTENTS</a:t>
            </a:r>
            <a:endParaRPr sz="3200"/>
          </a:p>
        </p:txBody>
      </p:sp>
      <p:pic>
        <p:nvPicPr>
          <p:cNvPr id="3" name="object 3"/>
          <p:cNvPicPr/>
          <p:nvPr/>
        </p:nvPicPr>
        <p:blipFill>
          <a:blip r:embed="rId2" cstate="print"/>
          <a:stretch>
            <a:fillRect/>
          </a:stretch>
        </p:blipFill>
        <p:spPr>
          <a:xfrm>
            <a:off x="0" y="0"/>
            <a:ext cx="12191999" cy="1430446"/>
          </a:xfrm>
          <a:prstGeom prst="rect">
            <a:avLst/>
          </a:prstGeom>
        </p:spPr>
      </p:pic>
      <p:sp>
        <p:nvSpPr>
          <p:cNvPr id="9" name="object 9"/>
          <p:cNvSpPr txBox="1"/>
          <p:nvPr/>
        </p:nvSpPr>
        <p:spPr>
          <a:xfrm>
            <a:off x="666712" y="1857364"/>
            <a:ext cx="4214842" cy="4193456"/>
          </a:xfrm>
          <a:prstGeom prst="rect">
            <a:avLst/>
          </a:prstGeom>
        </p:spPr>
        <p:txBody>
          <a:bodyPr vert="horz" wrap="square" lIns="0" tIns="119380" rIns="0" bIns="0" rtlCol="0">
            <a:spAutoFit/>
          </a:bodyPr>
          <a:lstStyle/>
          <a:p>
            <a:pPr marL="243840" indent="-138430" algn="l">
              <a:lnSpc>
                <a:spcPct val="100000"/>
              </a:lnSpc>
              <a:spcBef>
                <a:spcPts val="940"/>
              </a:spcBef>
              <a:buSzPct val="92857"/>
              <a:buFont typeface="Cambria"/>
              <a:buAutoNum type="arabicPeriod"/>
              <a:tabLst>
                <a:tab pos="243840" algn="l"/>
              </a:tabLst>
            </a:pPr>
            <a:r>
              <a:rPr spc="-10" dirty="0">
                <a:latin typeface="Times New Roman" pitchFamily="18" charset="0"/>
                <a:cs typeface="Times New Roman" pitchFamily="18" charset="0"/>
              </a:rPr>
              <a:t>Abstract</a:t>
            </a:r>
            <a:endParaRPr dirty="0">
              <a:latin typeface="Times New Roman" pitchFamily="18" charset="0"/>
              <a:cs typeface="Times New Roman" pitchFamily="18" charset="0"/>
            </a:endParaRPr>
          </a:p>
          <a:p>
            <a:pPr marL="243840" indent="-138430" algn="l">
              <a:lnSpc>
                <a:spcPct val="100000"/>
              </a:lnSpc>
              <a:spcBef>
                <a:spcPts val="840"/>
              </a:spcBef>
              <a:buSzPct val="92857"/>
              <a:buFont typeface="Cambria"/>
              <a:buAutoNum type="arabicPeriod"/>
              <a:tabLst>
                <a:tab pos="243840" algn="l"/>
              </a:tabLst>
            </a:pPr>
            <a:r>
              <a:rPr spc="-10" dirty="0">
                <a:latin typeface="Times New Roman" pitchFamily="18" charset="0"/>
                <a:cs typeface="Times New Roman" pitchFamily="18" charset="0"/>
              </a:rPr>
              <a:t>Introduction</a:t>
            </a:r>
            <a:endParaRPr dirty="0">
              <a:latin typeface="Times New Roman" pitchFamily="18" charset="0"/>
              <a:cs typeface="Times New Roman" pitchFamily="18" charset="0"/>
            </a:endParaRPr>
          </a:p>
          <a:p>
            <a:pPr marL="243840" indent="-138430" algn="l">
              <a:lnSpc>
                <a:spcPct val="100000"/>
              </a:lnSpc>
              <a:spcBef>
                <a:spcPts val="840"/>
              </a:spcBef>
              <a:buSzPct val="92857"/>
              <a:buFont typeface="Cambria"/>
              <a:buAutoNum type="arabicPeriod"/>
              <a:tabLst>
                <a:tab pos="243840" algn="l"/>
              </a:tabLst>
            </a:pPr>
            <a:r>
              <a:rPr dirty="0">
                <a:latin typeface="Times New Roman" pitchFamily="18" charset="0"/>
                <a:cs typeface="Times New Roman" pitchFamily="18" charset="0"/>
              </a:rPr>
              <a:t>Literature</a:t>
            </a:r>
            <a:r>
              <a:rPr spc="-50" dirty="0">
                <a:latin typeface="Times New Roman" pitchFamily="18" charset="0"/>
                <a:cs typeface="Times New Roman" pitchFamily="18" charset="0"/>
              </a:rPr>
              <a:t> </a:t>
            </a:r>
            <a:r>
              <a:rPr spc="-10" dirty="0">
                <a:latin typeface="Times New Roman" pitchFamily="18" charset="0"/>
                <a:cs typeface="Times New Roman" pitchFamily="18" charset="0"/>
              </a:rPr>
              <a:t>Survey</a:t>
            </a:r>
            <a:endParaRPr dirty="0">
              <a:latin typeface="Times New Roman" pitchFamily="18" charset="0"/>
              <a:cs typeface="Times New Roman" pitchFamily="18" charset="0"/>
            </a:endParaRPr>
          </a:p>
          <a:p>
            <a:pPr marL="243840" indent="-138430" algn="l">
              <a:lnSpc>
                <a:spcPct val="100000"/>
              </a:lnSpc>
              <a:spcBef>
                <a:spcPts val="840"/>
              </a:spcBef>
              <a:buSzPct val="92857"/>
              <a:buFont typeface="Cambria"/>
              <a:buAutoNum type="arabicPeriod"/>
              <a:tabLst>
                <a:tab pos="243840" algn="l"/>
              </a:tabLst>
            </a:pPr>
            <a:r>
              <a:rPr dirty="0">
                <a:latin typeface="Times New Roman" pitchFamily="18" charset="0"/>
                <a:cs typeface="Times New Roman" pitchFamily="18" charset="0"/>
              </a:rPr>
              <a:t>Problem</a:t>
            </a:r>
            <a:r>
              <a:rPr spc="-35" dirty="0">
                <a:latin typeface="Times New Roman" pitchFamily="18" charset="0"/>
                <a:cs typeface="Times New Roman" pitchFamily="18" charset="0"/>
              </a:rPr>
              <a:t> </a:t>
            </a:r>
            <a:r>
              <a:rPr spc="-10" dirty="0">
                <a:latin typeface="Times New Roman" pitchFamily="18" charset="0"/>
                <a:cs typeface="Times New Roman" pitchFamily="18" charset="0"/>
              </a:rPr>
              <a:t>statement</a:t>
            </a:r>
            <a:endParaRPr dirty="0">
              <a:latin typeface="Times New Roman" pitchFamily="18" charset="0"/>
              <a:cs typeface="Times New Roman" pitchFamily="18" charset="0"/>
            </a:endParaRPr>
          </a:p>
          <a:p>
            <a:pPr marL="243840" indent="-138430" algn="l">
              <a:lnSpc>
                <a:spcPct val="100000"/>
              </a:lnSpc>
              <a:spcBef>
                <a:spcPts val="840"/>
              </a:spcBef>
              <a:buSzPct val="92857"/>
              <a:buFont typeface="Cambria"/>
              <a:buAutoNum type="arabicPeriod"/>
              <a:tabLst>
                <a:tab pos="243840" algn="l"/>
              </a:tabLst>
            </a:pPr>
            <a:r>
              <a:rPr spc="-10" dirty="0">
                <a:latin typeface="Times New Roman" pitchFamily="18" charset="0"/>
                <a:cs typeface="Times New Roman" pitchFamily="18" charset="0"/>
              </a:rPr>
              <a:t>Objective</a:t>
            </a:r>
            <a:r>
              <a:rPr lang="en-US" spc="-10" dirty="0">
                <a:latin typeface="Times New Roman" pitchFamily="18" charset="0"/>
                <a:cs typeface="Times New Roman" pitchFamily="18" charset="0"/>
              </a:rPr>
              <a:t>s</a:t>
            </a:r>
            <a:r>
              <a:rPr spc="-20" dirty="0">
                <a:latin typeface="Times New Roman" pitchFamily="18" charset="0"/>
                <a:cs typeface="Times New Roman" pitchFamily="18" charset="0"/>
              </a:rPr>
              <a:t> </a:t>
            </a:r>
            <a:r>
              <a:rPr dirty="0">
                <a:latin typeface="Times New Roman" pitchFamily="18" charset="0"/>
                <a:cs typeface="Times New Roman" pitchFamily="18" charset="0"/>
              </a:rPr>
              <a:t>of</a:t>
            </a:r>
            <a:r>
              <a:rPr spc="-10" dirty="0">
                <a:latin typeface="Times New Roman" pitchFamily="18" charset="0"/>
                <a:cs typeface="Times New Roman" pitchFamily="18" charset="0"/>
              </a:rPr>
              <a:t> </a:t>
            </a:r>
            <a:r>
              <a:rPr dirty="0">
                <a:latin typeface="Times New Roman" pitchFamily="18" charset="0"/>
                <a:cs typeface="Times New Roman" pitchFamily="18" charset="0"/>
              </a:rPr>
              <a:t>the</a:t>
            </a:r>
            <a:r>
              <a:rPr spc="-15" dirty="0">
                <a:latin typeface="Times New Roman" pitchFamily="18" charset="0"/>
                <a:cs typeface="Times New Roman" pitchFamily="18" charset="0"/>
              </a:rPr>
              <a:t> </a:t>
            </a:r>
            <a:r>
              <a:rPr spc="-10" dirty="0">
                <a:latin typeface="Times New Roman" pitchFamily="18" charset="0"/>
                <a:cs typeface="Times New Roman" pitchFamily="18" charset="0"/>
              </a:rPr>
              <a:t>project</a:t>
            </a:r>
            <a:endParaRPr dirty="0">
              <a:latin typeface="Times New Roman" pitchFamily="18" charset="0"/>
              <a:cs typeface="Times New Roman" pitchFamily="18" charset="0"/>
            </a:endParaRPr>
          </a:p>
          <a:p>
            <a:pPr marL="243840" indent="-138430" algn="l">
              <a:lnSpc>
                <a:spcPct val="100000"/>
              </a:lnSpc>
              <a:spcBef>
                <a:spcPts val="840"/>
              </a:spcBef>
              <a:buSzPct val="92857"/>
              <a:buFont typeface="Cambria"/>
              <a:buAutoNum type="arabicPeriod"/>
              <a:tabLst>
                <a:tab pos="243840" algn="l"/>
              </a:tabLst>
            </a:pPr>
            <a:r>
              <a:rPr spc="-10" dirty="0">
                <a:latin typeface="Times New Roman" pitchFamily="18" charset="0"/>
                <a:cs typeface="Times New Roman" pitchFamily="18" charset="0"/>
              </a:rPr>
              <a:t>System Design and Methodology</a:t>
            </a:r>
            <a:endParaRPr dirty="0">
              <a:latin typeface="Times New Roman" pitchFamily="18" charset="0"/>
              <a:cs typeface="Times New Roman" pitchFamily="18" charset="0"/>
            </a:endParaRPr>
          </a:p>
          <a:p>
            <a:pPr marL="243840" indent="-138430" algn="l">
              <a:lnSpc>
                <a:spcPct val="100000"/>
              </a:lnSpc>
              <a:spcBef>
                <a:spcPts val="840"/>
              </a:spcBef>
              <a:buSzPct val="92857"/>
              <a:buFont typeface="Cambria"/>
              <a:buAutoNum type="arabicPeriod"/>
              <a:tabLst>
                <a:tab pos="243840" algn="l"/>
              </a:tabLst>
            </a:pPr>
            <a:r>
              <a:rPr dirty="0">
                <a:latin typeface="Times New Roman" pitchFamily="18" charset="0"/>
                <a:cs typeface="Times New Roman" pitchFamily="18" charset="0"/>
              </a:rPr>
              <a:t>Block</a:t>
            </a:r>
            <a:r>
              <a:rPr spc="-35" dirty="0">
                <a:latin typeface="Times New Roman" pitchFamily="18" charset="0"/>
                <a:cs typeface="Times New Roman" pitchFamily="18" charset="0"/>
              </a:rPr>
              <a:t> </a:t>
            </a:r>
            <a:r>
              <a:rPr spc="-10" dirty="0">
                <a:latin typeface="Times New Roman" pitchFamily="18" charset="0"/>
                <a:cs typeface="Times New Roman" pitchFamily="18" charset="0"/>
              </a:rPr>
              <a:t>diagram</a:t>
            </a:r>
            <a:endParaRPr lang="en-IN" spc="-10" dirty="0">
              <a:latin typeface="Times New Roman" pitchFamily="18" charset="0"/>
              <a:cs typeface="Times New Roman" pitchFamily="18" charset="0"/>
            </a:endParaRPr>
          </a:p>
          <a:p>
            <a:pPr marL="243840" indent="-138430" algn="l">
              <a:spcBef>
                <a:spcPts val="840"/>
              </a:spcBef>
              <a:buSzPct val="92857"/>
              <a:buFont typeface="Cambria"/>
              <a:buAutoNum type="arabicPeriod"/>
              <a:tabLst>
                <a:tab pos="243840" algn="l"/>
              </a:tabLst>
            </a:pPr>
            <a:r>
              <a:rPr lang="en-IN" spc="-10" dirty="0">
                <a:latin typeface="Times New Roman" pitchFamily="18" charset="0"/>
                <a:cs typeface="Times New Roman" pitchFamily="18" charset="0"/>
              </a:rPr>
              <a:t> </a:t>
            </a:r>
            <a:r>
              <a:rPr lang="en-US" spc="-10" dirty="0">
                <a:latin typeface="Times New Roman" pitchFamily="18" charset="0"/>
                <a:cs typeface="Times New Roman" pitchFamily="18" charset="0"/>
              </a:rPr>
              <a:t>Hardware</a:t>
            </a:r>
            <a:r>
              <a:rPr lang="en-US" spc="-30" dirty="0">
                <a:latin typeface="Times New Roman" pitchFamily="18" charset="0"/>
                <a:cs typeface="Times New Roman" pitchFamily="18" charset="0"/>
              </a:rPr>
              <a:t> </a:t>
            </a:r>
            <a:r>
              <a:rPr lang="en-US" dirty="0">
                <a:latin typeface="Times New Roman" pitchFamily="18" charset="0"/>
                <a:cs typeface="Times New Roman" pitchFamily="18" charset="0"/>
              </a:rPr>
              <a:t>and</a:t>
            </a:r>
            <a:r>
              <a:rPr lang="en-US" spc="-20" dirty="0">
                <a:latin typeface="Times New Roman" pitchFamily="18" charset="0"/>
                <a:cs typeface="Times New Roman" pitchFamily="18" charset="0"/>
              </a:rPr>
              <a:t> </a:t>
            </a:r>
            <a:r>
              <a:rPr lang="en-US" dirty="0">
                <a:latin typeface="Times New Roman" pitchFamily="18" charset="0"/>
                <a:cs typeface="Times New Roman" pitchFamily="18" charset="0"/>
              </a:rPr>
              <a:t>Software</a:t>
            </a:r>
            <a:r>
              <a:rPr lang="en-US" spc="-30" dirty="0">
                <a:latin typeface="Times New Roman" pitchFamily="18" charset="0"/>
                <a:cs typeface="Times New Roman" pitchFamily="18" charset="0"/>
              </a:rPr>
              <a:t> </a:t>
            </a:r>
            <a:r>
              <a:rPr lang="en-US" spc="-10" dirty="0">
                <a:latin typeface="Times New Roman" pitchFamily="18" charset="0"/>
                <a:cs typeface="Times New Roman" pitchFamily="18" charset="0"/>
              </a:rPr>
              <a:t>Requirements</a:t>
            </a:r>
            <a:endParaRPr dirty="0">
              <a:latin typeface="Times New Roman" pitchFamily="18" charset="0"/>
              <a:cs typeface="Times New Roman" pitchFamily="18" charset="0"/>
            </a:endParaRPr>
          </a:p>
          <a:p>
            <a:pPr marL="243840" indent="-138430" algn="l">
              <a:lnSpc>
                <a:spcPct val="100000"/>
              </a:lnSpc>
              <a:spcBef>
                <a:spcPts val="840"/>
              </a:spcBef>
              <a:buSzPct val="92857"/>
              <a:buFont typeface="Cambria"/>
              <a:buAutoNum type="arabicPeriod"/>
              <a:tabLst>
                <a:tab pos="243840" algn="l"/>
              </a:tabLst>
            </a:pPr>
            <a:r>
              <a:rPr dirty="0">
                <a:latin typeface="Times New Roman" pitchFamily="18" charset="0"/>
                <a:cs typeface="Times New Roman" pitchFamily="18" charset="0"/>
              </a:rPr>
              <a:t>Expected</a:t>
            </a:r>
            <a:r>
              <a:rPr spc="-55" dirty="0">
                <a:latin typeface="Times New Roman" pitchFamily="18" charset="0"/>
                <a:cs typeface="Times New Roman" pitchFamily="18" charset="0"/>
              </a:rPr>
              <a:t> </a:t>
            </a:r>
            <a:r>
              <a:rPr spc="-10" dirty="0">
                <a:latin typeface="Times New Roman" pitchFamily="18" charset="0"/>
                <a:cs typeface="Times New Roman" pitchFamily="18" charset="0"/>
              </a:rPr>
              <a:t>results</a:t>
            </a:r>
            <a:endParaRPr dirty="0">
              <a:latin typeface="Times New Roman" pitchFamily="18" charset="0"/>
              <a:cs typeface="Times New Roman" pitchFamily="18" charset="0"/>
            </a:endParaRPr>
          </a:p>
          <a:p>
            <a:pPr marL="243840" indent="-231140" algn="l">
              <a:lnSpc>
                <a:spcPct val="100000"/>
              </a:lnSpc>
              <a:spcBef>
                <a:spcPts val="840"/>
              </a:spcBef>
              <a:buSzPct val="92857"/>
              <a:buFont typeface="Cambria"/>
              <a:buAutoNum type="arabicPeriod"/>
              <a:tabLst>
                <a:tab pos="243840" algn="l"/>
              </a:tabLst>
            </a:pPr>
            <a:r>
              <a:rPr dirty="0">
                <a:latin typeface="Times New Roman" pitchFamily="18" charset="0"/>
                <a:cs typeface="Times New Roman" pitchFamily="18" charset="0"/>
              </a:rPr>
              <a:t>Application</a:t>
            </a:r>
            <a:r>
              <a:rPr spc="-35" dirty="0">
                <a:latin typeface="Times New Roman" pitchFamily="18" charset="0"/>
                <a:cs typeface="Times New Roman" pitchFamily="18" charset="0"/>
              </a:rPr>
              <a:t> </a:t>
            </a:r>
            <a:r>
              <a:rPr dirty="0">
                <a:latin typeface="Times New Roman" pitchFamily="18" charset="0"/>
                <a:cs typeface="Times New Roman" pitchFamily="18" charset="0"/>
              </a:rPr>
              <a:t>of</a:t>
            </a:r>
            <a:r>
              <a:rPr spc="-30" dirty="0">
                <a:latin typeface="Times New Roman" pitchFamily="18" charset="0"/>
                <a:cs typeface="Times New Roman" pitchFamily="18" charset="0"/>
              </a:rPr>
              <a:t> </a:t>
            </a:r>
            <a:r>
              <a:rPr dirty="0">
                <a:latin typeface="Times New Roman" pitchFamily="18" charset="0"/>
                <a:cs typeface="Times New Roman" pitchFamily="18" charset="0"/>
              </a:rPr>
              <a:t>the</a:t>
            </a:r>
            <a:r>
              <a:rPr spc="-35" dirty="0">
                <a:latin typeface="Times New Roman" pitchFamily="18" charset="0"/>
                <a:cs typeface="Times New Roman" pitchFamily="18" charset="0"/>
              </a:rPr>
              <a:t> </a:t>
            </a:r>
            <a:r>
              <a:rPr spc="-10" dirty="0">
                <a:latin typeface="Times New Roman" pitchFamily="18" charset="0"/>
                <a:cs typeface="Times New Roman" pitchFamily="18" charset="0"/>
              </a:rPr>
              <a:t>project</a:t>
            </a:r>
            <a:endParaRPr dirty="0">
              <a:latin typeface="Times New Roman" pitchFamily="18" charset="0"/>
              <a:cs typeface="Times New Roman" pitchFamily="18" charset="0"/>
            </a:endParaRPr>
          </a:p>
          <a:p>
            <a:pPr marL="243840" indent="-231140" algn="l">
              <a:lnSpc>
                <a:spcPct val="100000"/>
              </a:lnSpc>
              <a:spcBef>
                <a:spcPts val="840"/>
              </a:spcBef>
              <a:buSzPct val="92857"/>
              <a:buFont typeface="Cambria"/>
              <a:buAutoNum type="arabicPeriod"/>
              <a:tabLst>
                <a:tab pos="243840" algn="l"/>
              </a:tabLst>
            </a:pPr>
            <a:r>
              <a:rPr dirty="0">
                <a:latin typeface="Times New Roman" pitchFamily="18" charset="0"/>
                <a:cs typeface="Times New Roman" pitchFamily="18" charset="0"/>
              </a:rPr>
              <a:t>Paper </a:t>
            </a:r>
            <a:r>
              <a:rPr spc="-10" dirty="0">
                <a:latin typeface="Times New Roman" pitchFamily="18" charset="0"/>
                <a:cs typeface="Times New Roman" pitchFamily="18" charset="0"/>
              </a:rPr>
              <a:t>References</a:t>
            </a:r>
            <a:endParaRPr dirty="0">
              <a:latin typeface="Times New Roman" pitchFamily="18" charset="0"/>
              <a:cs typeface="Times New Roman" pitchFamily="18" charset="0"/>
            </a:endParaRPr>
          </a:p>
        </p:txBody>
      </p:sp>
      <p:sp>
        <p:nvSpPr>
          <p:cNvPr id="4" name="Date Placeholder 17">
            <a:extLst>
              <a:ext uri="{FF2B5EF4-FFF2-40B4-BE49-F238E27FC236}">
                <a16:creationId xmlns:a16="http://schemas.microsoft.com/office/drawing/2014/main" id="{3E3B290A-7EEA-7E52-7BE5-58F05D3FCF26}"/>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5" name="Footer Placeholder 18">
            <a:extLst>
              <a:ext uri="{FF2B5EF4-FFF2-40B4-BE49-F238E27FC236}">
                <a16:creationId xmlns:a16="http://schemas.microsoft.com/office/drawing/2014/main" id="{716C4627-F924-D1C4-696B-14B656671762}"/>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6" name="Slide Number Placeholder 19">
            <a:extLst>
              <a:ext uri="{FF2B5EF4-FFF2-40B4-BE49-F238E27FC236}">
                <a16:creationId xmlns:a16="http://schemas.microsoft.com/office/drawing/2014/main" id="{570C36B2-DDE9-D28D-E77E-A9EECAF4B572}"/>
              </a:ext>
            </a:extLst>
          </p:cNvPr>
          <p:cNvSpPr>
            <a:spLocks noGrp="1"/>
          </p:cNvSpPr>
          <p:nvPr>
            <p:ph type="sldNum" sz="quarter" idx="7"/>
          </p:nvPr>
        </p:nvSpPr>
        <p:spPr>
          <a:xfrm>
            <a:off x="11599331" y="6543760"/>
            <a:ext cx="349003" cy="184666"/>
          </a:xfrm>
        </p:spPr>
        <p:txBody>
          <a:bodyPr/>
          <a:lstStyle/>
          <a:p>
            <a:fld id="{B6F15528-21DE-4FAA-801E-634DDDAF4B2B}" type="slidenum">
              <a:rPr lang="en-IN" sz="1200" b="1" smtClean="0">
                <a:solidFill>
                  <a:schemeClr val="accent1">
                    <a:lumMod val="75000"/>
                  </a:schemeClr>
                </a:solidFill>
                <a:latin typeface="+mj-lt"/>
              </a:rPr>
              <a:pPr/>
              <a:t>3</a:t>
            </a:fld>
            <a:endParaRPr lang="en-IN" sz="1200" b="1" dirty="0">
              <a:solidFill>
                <a:schemeClr val="accent1">
                  <a:lumMod val="75000"/>
                </a:schemeClr>
              </a:solidFill>
              <a:latin typeface="+mj-lt"/>
            </a:endParaRPr>
          </a:p>
        </p:txBody>
      </p:sp>
      <p:sp>
        <p:nvSpPr>
          <p:cNvPr id="7" name="object 8">
            <a:extLst>
              <a:ext uri="{FF2B5EF4-FFF2-40B4-BE49-F238E27FC236}">
                <a16:creationId xmlns:a16="http://schemas.microsoft.com/office/drawing/2014/main" id="{27393B6D-70E0-8B84-BD09-81A76BD08BFE}"/>
              </a:ext>
            </a:extLst>
          </p:cNvPr>
          <p:cNvSpPr/>
          <p:nvPr/>
        </p:nvSpPr>
        <p:spPr>
          <a:xfrm>
            <a:off x="11759754" y="6453530"/>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495600" y="1124744"/>
            <a:ext cx="6925309" cy="741857"/>
          </a:xfrm>
          <a:prstGeom prst="rect">
            <a:avLst/>
          </a:prstGeom>
        </p:spPr>
        <p:txBody>
          <a:bodyPr vert="horz" wrap="square" lIns="0" tIns="189891" rIns="0" bIns="0" rtlCol="0">
            <a:spAutoFit/>
          </a:bodyPr>
          <a:lstStyle/>
          <a:p>
            <a:pPr marL="2480945">
              <a:lnSpc>
                <a:spcPct val="100000"/>
              </a:lnSpc>
              <a:spcBef>
                <a:spcPts val="100"/>
              </a:spcBef>
            </a:pPr>
            <a:r>
              <a:rPr spc="-10" dirty="0"/>
              <a:t>ABSTRACT</a:t>
            </a:r>
          </a:p>
        </p:txBody>
      </p:sp>
      <p:sp>
        <p:nvSpPr>
          <p:cNvPr id="3" name="object 3"/>
          <p:cNvSpPr txBox="1"/>
          <p:nvPr/>
        </p:nvSpPr>
        <p:spPr>
          <a:xfrm>
            <a:off x="864505" y="1967382"/>
            <a:ext cx="10462989" cy="3702552"/>
          </a:xfrm>
          <a:prstGeom prst="rect">
            <a:avLst/>
          </a:prstGeom>
        </p:spPr>
        <p:txBody>
          <a:bodyPr vert="horz" wrap="square" lIns="0" tIns="12700" rIns="0" bIns="0" rtlCol="0">
            <a:spAutoFit/>
          </a:bodyPr>
          <a:lstStyle/>
          <a:p>
            <a:pPr marL="12065" marR="27305" algn="just">
              <a:lnSpc>
                <a:spcPct val="150000"/>
              </a:lnSpc>
              <a:spcBef>
                <a:spcPts val="100"/>
              </a:spcBef>
              <a:tabLst>
                <a:tab pos="378460" algn="l"/>
              </a:tabLst>
            </a:pPr>
            <a:r>
              <a:rPr lang="en-US" dirty="0">
                <a:latin typeface="Times New Roman" panose="02020603050405020304" pitchFamily="18" charset="0"/>
                <a:cs typeface="Times New Roman" panose="02020603050405020304" pitchFamily="18" charset="0"/>
              </a:rPr>
              <a:t>The growing deployment of UAVs in time-critical applications demands robust autonomous landing capability independent of GNSS availability. This project presents the design, implementation, and experimental evaluation of a real-time vision-based precision landing system for a quadcopter UAV operating in GPS-limited environments. The proposed architecture integrates the open-source Pixhawk 2.4.8 flight controller with an OpenMV H7 machine-vision camera that autonomously detects and tracks a nested AprilTag fiducial marker affixed to the landing pad. Angular offset data computed onboard the camera is transmitted as MAVLink LANDING_TARGET messages to the flight controller, which executes a closed-loop descent using its built-in Extended Kalman Filter and PID stabilisation loops. Experimental results demonstrate a mean landing deviation of approximately 9 to 12 cm across outdoor, semi-outdoor, and indoor environments.</a:t>
            </a:r>
            <a:endParaRPr dirty="0">
              <a:latin typeface="Times New Roman" panose="02020603050405020304" pitchFamily="18" charset="0"/>
              <a:cs typeface="Times New Roman" panose="02020603050405020304" pitchFamily="18" charset="0"/>
            </a:endParaRPr>
          </a:p>
        </p:txBody>
      </p:sp>
      <p:sp>
        <p:nvSpPr>
          <p:cNvPr id="4" name="Date Placeholder 17">
            <a:extLst>
              <a:ext uri="{FF2B5EF4-FFF2-40B4-BE49-F238E27FC236}">
                <a16:creationId xmlns:a16="http://schemas.microsoft.com/office/drawing/2014/main" id="{569F98E6-0494-25C6-C039-7CC1B9A1C5B9}"/>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5" name="Footer Placeholder 18">
            <a:extLst>
              <a:ext uri="{FF2B5EF4-FFF2-40B4-BE49-F238E27FC236}">
                <a16:creationId xmlns:a16="http://schemas.microsoft.com/office/drawing/2014/main" id="{47D53905-4BBE-13C2-1A2C-B8C4F03F4A5E}"/>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6" name="Slide Number Placeholder 19">
            <a:extLst>
              <a:ext uri="{FF2B5EF4-FFF2-40B4-BE49-F238E27FC236}">
                <a16:creationId xmlns:a16="http://schemas.microsoft.com/office/drawing/2014/main" id="{94575337-3FCC-5FFB-F327-DA74F1E07BFF}"/>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4</a:t>
            </a:fld>
            <a:endParaRPr lang="en-IN" sz="1200" b="1" dirty="0">
              <a:solidFill>
                <a:schemeClr val="accent1">
                  <a:lumMod val="75000"/>
                </a:schemeClr>
              </a:solidFill>
              <a:latin typeface="+mj-lt"/>
            </a:endParaRPr>
          </a:p>
        </p:txBody>
      </p:sp>
      <p:pic>
        <p:nvPicPr>
          <p:cNvPr id="7" name="object 3">
            <a:extLst>
              <a:ext uri="{FF2B5EF4-FFF2-40B4-BE49-F238E27FC236}">
                <a16:creationId xmlns:a16="http://schemas.microsoft.com/office/drawing/2014/main" id="{688C3D52-9D13-32B2-F67A-880C0A18A93E}"/>
              </a:ext>
            </a:extLst>
          </p:cNvPr>
          <p:cNvPicPr/>
          <p:nvPr/>
        </p:nvPicPr>
        <p:blipFill>
          <a:blip r:embed="rId2" cstate="print"/>
          <a:stretch>
            <a:fillRect/>
          </a:stretch>
        </p:blipFill>
        <p:spPr>
          <a:xfrm>
            <a:off x="0" y="0"/>
            <a:ext cx="12191999" cy="1430446"/>
          </a:xfrm>
          <a:prstGeom prst="rect">
            <a:avLst/>
          </a:prstGeom>
        </p:spPr>
      </p:pic>
      <p:sp>
        <p:nvSpPr>
          <p:cNvPr id="9" name="object 8">
            <a:extLst>
              <a:ext uri="{FF2B5EF4-FFF2-40B4-BE49-F238E27FC236}">
                <a16:creationId xmlns:a16="http://schemas.microsoft.com/office/drawing/2014/main" id="{0F2E852B-311F-FE41-A068-7095BE9B7843}"/>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1115" rIns="0" bIns="0" rtlCol="0">
            <a:spAutoFit/>
          </a:bodyPr>
          <a:lstStyle/>
          <a:p>
            <a:pPr marL="2091055">
              <a:lnSpc>
                <a:spcPct val="100000"/>
              </a:lnSpc>
              <a:spcBef>
                <a:spcPts val="100"/>
              </a:spcBef>
            </a:pPr>
            <a:r>
              <a:rPr spc="-10" dirty="0"/>
              <a:t>INTRODUCTION</a:t>
            </a:r>
          </a:p>
        </p:txBody>
      </p:sp>
      <p:pic>
        <p:nvPicPr>
          <p:cNvPr id="3" name="object 3"/>
          <p:cNvPicPr/>
          <p:nvPr/>
        </p:nvPicPr>
        <p:blipFill>
          <a:blip r:embed="rId3" cstate="print"/>
          <a:stretch>
            <a:fillRect/>
          </a:stretch>
        </p:blipFill>
        <p:spPr>
          <a:xfrm>
            <a:off x="0" y="0"/>
            <a:ext cx="12192000" cy="1406494"/>
          </a:xfrm>
          <a:prstGeom prst="rect">
            <a:avLst/>
          </a:prstGeom>
        </p:spPr>
      </p:pic>
      <p:sp>
        <p:nvSpPr>
          <p:cNvPr id="8" name="object 8"/>
          <p:cNvSpPr txBox="1"/>
          <p:nvPr/>
        </p:nvSpPr>
        <p:spPr>
          <a:xfrm>
            <a:off x="738150" y="1778020"/>
            <a:ext cx="6365962" cy="4721805"/>
          </a:xfrm>
          <a:prstGeom prst="rect">
            <a:avLst/>
          </a:prstGeom>
        </p:spPr>
        <p:txBody>
          <a:bodyPr vert="horz" wrap="square" lIns="0" tIns="12700" rIns="0" bIns="0" rtlCol="0">
            <a:spAutoFit/>
          </a:bodyPr>
          <a:lstStyle/>
          <a:p>
            <a:r>
              <a:rPr lang="en-US" dirty="0">
                <a:latin typeface="Times New Roman" panose="02020603050405020304" pitchFamily="18" charset="0"/>
                <a:cs typeface="Times New Roman" panose="02020603050405020304" pitchFamily="18" charset="0"/>
              </a:rPr>
              <a:t>Drones or usually called as Unmanned Aerial Vehicles (UAVs), commonly known as drones used in applications such as surveillance, package delivery, cinematography, and industrial inspection. One of the most critical phases of drone operation is landing, as inaccurate or unstable landing can cause damage to the drone and the equipment it carries. Conventional landing methods rely mainly on GPS, which may suffer from signal degradation, positional errors, or complete unavailability in indoor and obstructed environments.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project focuses on designing and developing a quadcopter drone capable of stable flight and autonomous precision landing using a vision-based system. A camera module is used to detect a visual landing marker and provide positional information to the flight controller, enabling accurate and controlled landing. The system aims to improve landing accuracy, enhance safety, and provide a reliable and cost-effective solution for autonomous UAV operations.</a:t>
            </a:r>
            <a:endParaRPr lang="en-IN" dirty="0">
              <a:latin typeface="Times New Roman" panose="02020603050405020304" pitchFamily="18" charset="0"/>
              <a:cs typeface="Times New Roman" panose="02020603050405020304" pitchFamily="18" charset="0"/>
            </a:endParaRPr>
          </a:p>
        </p:txBody>
      </p:sp>
      <p:sp>
        <p:nvSpPr>
          <p:cNvPr id="4" name="Date Placeholder 17">
            <a:extLst>
              <a:ext uri="{FF2B5EF4-FFF2-40B4-BE49-F238E27FC236}">
                <a16:creationId xmlns:a16="http://schemas.microsoft.com/office/drawing/2014/main" id="{0B38E120-2EC4-D0A5-57B6-10926793A3CE}"/>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5" name="Footer Placeholder 18">
            <a:extLst>
              <a:ext uri="{FF2B5EF4-FFF2-40B4-BE49-F238E27FC236}">
                <a16:creationId xmlns:a16="http://schemas.microsoft.com/office/drawing/2014/main" id="{E78AC4D1-5BDF-8125-3C29-DFC45352283E}"/>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6" name="Slide Number Placeholder 19">
            <a:extLst>
              <a:ext uri="{FF2B5EF4-FFF2-40B4-BE49-F238E27FC236}">
                <a16:creationId xmlns:a16="http://schemas.microsoft.com/office/drawing/2014/main" id="{7C5B58FC-6D13-D271-3BC0-CD9C859CD536}"/>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5</a:t>
            </a:fld>
            <a:endParaRPr lang="en-IN" sz="1200" b="1" dirty="0">
              <a:solidFill>
                <a:schemeClr val="accent1">
                  <a:lumMod val="75000"/>
                </a:schemeClr>
              </a:solidFill>
              <a:latin typeface="+mj-lt"/>
            </a:endParaRPr>
          </a:p>
        </p:txBody>
      </p:sp>
      <p:sp>
        <p:nvSpPr>
          <p:cNvPr id="7" name="object 8">
            <a:extLst>
              <a:ext uri="{FF2B5EF4-FFF2-40B4-BE49-F238E27FC236}">
                <a16:creationId xmlns:a16="http://schemas.microsoft.com/office/drawing/2014/main" id="{6B9E7384-9F70-9080-A751-2D8B00CE8B1E}"/>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pic>
        <p:nvPicPr>
          <p:cNvPr id="10" name="Picture 9">
            <a:extLst>
              <a:ext uri="{FF2B5EF4-FFF2-40B4-BE49-F238E27FC236}">
                <a16:creationId xmlns:a16="http://schemas.microsoft.com/office/drawing/2014/main" id="{6A506962-3FEA-360E-A263-0585EAD223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1930" y="2025502"/>
            <a:ext cx="4634632" cy="30869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151784" y="1340768"/>
            <a:ext cx="4730998" cy="391160"/>
          </a:xfrm>
          <a:prstGeom prst="rect">
            <a:avLst/>
          </a:prstGeom>
        </p:spPr>
        <p:txBody>
          <a:bodyPr vert="horz" wrap="square" lIns="0" tIns="12700" rIns="0" bIns="0" rtlCol="0">
            <a:spAutoFit/>
          </a:bodyPr>
          <a:lstStyle/>
          <a:p>
            <a:pPr marL="12700">
              <a:lnSpc>
                <a:spcPct val="100000"/>
              </a:lnSpc>
              <a:spcBef>
                <a:spcPts val="100"/>
              </a:spcBef>
              <a:tabLst>
                <a:tab pos="2156460" algn="l"/>
              </a:tabLst>
            </a:pPr>
            <a:r>
              <a:rPr spc="-10" dirty="0"/>
              <a:t>LITERATURE</a:t>
            </a:r>
            <a:r>
              <a:rPr dirty="0"/>
              <a:t>	</a:t>
            </a:r>
            <a:r>
              <a:rPr spc="-10" dirty="0"/>
              <a:t>REVIEW</a:t>
            </a:r>
          </a:p>
        </p:txBody>
      </p:sp>
      <p:pic>
        <p:nvPicPr>
          <p:cNvPr id="3" name="object 3"/>
          <p:cNvPicPr/>
          <p:nvPr/>
        </p:nvPicPr>
        <p:blipFill>
          <a:blip r:embed="rId2" cstate="print"/>
          <a:stretch>
            <a:fillRect/>
          </a:stretch>
        </p:blipFill>
        <p:spPr>
          <a:xfrm>
            <a:off x="0" y="0"/>
            <a:ext cx="12191999" cy="1430446"/>
          </a:xfrm>
          <a:prstGeom prst="rect">
            <a:avLst/>
          </a:prstGeom>
        </p:spPr>
      </p:pic>
      <p:graphicFrame>
        <p:nvGraphicFramePr>
          <p:cNvPr id="9" name="Table 8">
            <a:extLst>
              <a:ext uri="{FF2B5EF4-FFF2-40B4-BE49-F238E27FC236}">
                <a16:creationId xmlns:a16="http://schemas.microsoft.com/office/drawing/2014/main" id="{097E5216-F7C8-738E-D85B-0A5775B062C1}"/>
              </a:ext>
            </a:extLst>
          </p:cNvPr>
          <p:cNvGraphicFramePr>
            <a:graphicFrameLocks noGrp="1"/>
          </p:cNvGraphicFramePr>
          <p:nvPr>
            <p:extLst>
              <p:ext uri="{D42A27DB-BD31-4B8C-83A1-F6EECF244321}">
                <p14:modId xmlns:p14="http://schemas.microsoft.com/office/powerpoint/2010/main" val="1799670765"/>
              </p:ext>
            </p:extLst>
          </p:nvPr>
        </p:nvGraphicFramePr>
        <p:xfrm>
          <a:off x="0" y="1731928"/>
          <a:ext cx="12191998" cy="4953000"/>
        </p:xfrm>
        <a:graphic>
          <a:graphicData uri="http://schemas.openxmlformats.org/drawingml/2006/table">
            <a:tbl>
              <a:tblPr firstRow="1" firstCol="1" bandRow="1">
                <a:tableStyleId>{93296810-A885-4BE3-A3E7-6D5BEEA58F35}</a:tableStyleId>
              </a:tblPr>
              <a:tblGrid>
                <a:gridCol w="1113905">
                  <a:extLst>
                    <a:ext uri="{9D8B030D-6E8A-4147-A177-3AD203B41FA5}">
                      <a16:colId xmlns:a16="http://schemas.microsoft.com/office/drawing/2014/main" val="2329986185"/>
                    </a:ext>
                  </a:extLst>
                </a:gridCol>
                <a:gridCol w="3423502">
                  <a:extLst>
                    <a:ext uri="{9D8B030D-6E8A-4147-A177-3AD203B41FA5}">
                      <a16:colId xmlns:a16="http://schemas.microsoft.com/office/drawing/2014/main" val="1513408336"/>
                    </a:ext>
                  </a:extLst>
                </a:gridCol>
                <a:gridCol w="2640534">
                  <a:extLst>
                    <a:ext uri="{9D8B030D-6E8A-4147-A177-3AD203B41FA5}">
                      <a16:colId xmlns:a16="http://schemas.microsoft.com/office/drawing/2014/main" val="3203917956"/>
                    </a:ext>
                  </a:extLst>
                </a:gridCol>
                <a:gridCol w="2371091">
                  <a:extLst>
                    <a:ext uri="{9D8B030D-6E8A-4147-A177-3AD203B41FA5}">
                      <a16:colId xmlns:a16="http://schemas.microsoft.com/office/drawing/2014/main" val="880202299"/>
                    </a:ext>
                  </a:extLst>
                </a:gridCol>
                <a:gridCol w="2642966">
                  <a:extLst>
                    <a:ext uri="{9D8B030D-6E8A-4147-A177-3AD203B41FA5}">
                      <a16:colId xmlns:a16="http://schemas.microsoft.com/office/drawing/2014/main" val="2040471136"/>
                    </a:ext>
                  </a:extLst>
                </a:gridCol>
              </a:tblGrid>
              <a:tr h="183096">
                <a:tc>
                  <a:txBody>
                    <a:bodyPr/>
                    <a:lstStyle/>
                    <a:p>
                      <a:pPr marL="0" marR="0" algn="ctr">
                        <a:lnSpc>
                          <a:spcPct val="100000"/>
                        </a:lnSpc>
                        <a:spcAft>
                          <a:spcPts val="0"/>
                        </a:spcAft>
                      </a:pPr>
                      <a:r>
                        <a:rPr lang="en-US" sz="1300" u="none" dirty="0">
                          <a:solidFill>
                            <a:schemeClr val="tx1"/>
                          </a:solidFill>
                          <a:effectLst/>
                          <a:latin typeface="Times New Roman" panose="02020603050405020304" pitchFamily="18" charset="0"/>
                          <a:cs typeface="Times New Roman" panose="02020603050405020304" pitchFamily="18" charset="0"/>
                        </a:rPr>
                        <a:t>Ref No.</a:t>
                      </a:r>
                      <a:endParaRPr lang="en-US" sz="1300" u="none"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33418" marR="33418" marT="0" marB="0"/>
                </a:tc>
                <a:tc>
                  <a:txBody>
                    <a:bodyPr/>
                    <a:lstStyle/>
                    <a:p>
                      <a:pPr marL="0" marR="0" algn="ctr">
                        <a:lnSpc>
                          <a:spcPct val="100000"/>
                        </a:lnSpc>
                        <a:spcAft>
                          <a:spcPts val="0"/>
                        </a:spcAft>
                      </a:pPr>
                      <a:r>
                        <a:rPr lang="en-US" sz="1300" u="none" dirty="0">
                          <a:solidFill>
                            <a:schemeClr val="tx1"/>
                          </a:solidFill>
                          <a:effectLst/>
                          <a:latin typeface="Times New Roman" panose="02020603050405020304" pitchFamily="18" charset="0"/>
                          <a:cs typeface="Times New Roman" panose="02020603050405020304" pitchFamily="18" charset="0"/>
                        </a:rPr>
                        <a:t>Methodology Used</a:t>
                      </a:r>
                      <a:endParaRPr lang="en-US" sz="1300" u="none"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33418" marR="33418" marT="0" marB="0"/>
                </a:tc>
                <a:tc>
                  <a:txBody>
                    <a:bodyPr/>
                    <a:lstStyle/>
                    <a:p>
                      <a:pPr marL="0" marR="0" algn="ctr">
                        <a:lnSpc>
                          <a:spcPct val="100000"/>
                        </a:lnSpc>
                        <a:spcAft>
                          <a:spcPts val="0"/>
                        </a:spcAft>
                      </a:pPr>
                      <a:r>
                        <a:rPr lang="en-US" sz="1300" u="none" dirty="0">
                          <a:solidFill>
                            <a:schemeClr val="tx1"/>
                          </a:solidFill>
                          <a:effectLst/>
                          <a:latin typeface="Times New Roman" panose="02020603050405020304" pitchFamily="18" charset="0"/>
                          <a:cs typeface="Times New Roman" panose="02020603050405020304" pitchFamily="18" charset="0"/>
                        </a:rPr>
                        <a:t>Objectives</a:t>
                      </a:r>
                      <a:endParaRPr lang="en-US" sz="1300" u="none"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33418" marR="33418" marT="0" marB="0"/>
                </a:tc>
                <a:tc>
                  <a:txBody>
                    <a:bodyPr/>
                    <a:lstStyle/>
                    <a:p>
                      <a:pPr marL="0" marR="0" algn="ctr">
                        <a:lnSpc>
                          <a:spcPct val="100000"/>
                        </a:lnSpc>
                        <a:spcAft>
                          <a:spcPts val="0"/>
                        </a:spcAft>
                      </a:pPr>
                      <a:r>
                        <a:rPr lang="en-US" sz="1300" u="none">
                          <a:solidFill>
                            <a:schemeClr val="tx1"/>
                          </a:solidFill>
                          <a:effectLst/>
                          <a:latin typeface="Times New Roman" panose="02020603050405020304" pitchFamily="18" charset="0"/>
                          <a:cs typeface="Times New Roman" panose="02020603050405020304" pitchFamily="18" charset="0"/>
                        </a:rPr>
                        <a:t>Merits</a:t>
                      </a:r>
                      <a:endParaRPr lang="en-US" sz="1300" u="none"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33418" marR="33418" marT="0" marB="0"/>
                </a:tc>
                <a:tc>
                  <a:txBody>
                    <a:bodyPr/>
                    <a:lstStyle/>
                    <a:p>
                      <a:pPr marL="0" marR="0" algn="ctr">
                        <a:lnSpc>
                          <a:spcPct val="100000"/>
                        </a:lnSpc>
                        <a:spcAft>
                          <a:spcPts val="0"/>
                        </a:spcAft>
                      </a:pPr>
                      <a:r>
                        <a:rPr lang="en-US" sz="1300" u="none">
                          <a:solidFill>
                            <a:schemeClr val="tx1"/>
                          </a:solidFill>
                          <a:effectLst/>
                          <a:latin typeface="Times New Roman" panose="02020603050405020304" pitchFamily="18" charset="0"/>
                          <a:cs typeface="Times New Roman" panose="02020603050405020304" pitchFamily="18" charset="0"/>
                        </a:rPr>
                        <a:t>Remarks</a:t>
                      </a:r>
                      <a:endParaRPr lang="en-US" sz="1300" u="none"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33418" marR="33418" marT="0" marB="0"/>
                </a:tc>
                <a:extLst>
                  <a:ext uri="{0D108BD9-81ED-4DB2-BD59-A6C34878D82A}">
                    <a16:rowId xmlns:a16="http://schemas.microsoft.com/office/drawing/2014/main" val="1852585569"/>
                  </a:ext>
                </a:extLst>
              </a:tr>
              <a:tr h="1802788">
                <a:tc>
                  <a:txBody>
                    <a:bodyPr/>
                    <a:lstStyle/>
                    <a:p>
                      <a:pPr rtl="0" fontAlgn="b">
                        <a:buNone/>
                      </a:pPr>
                      <a:r>
                        <a:rPr lang="en-IN" u="none" dirty="0">
                          <a:effectLst/>
                        </a:rPr>
                        <a:t>[1]</a:t>
                      </a:r>
                    </a:p>
                  </a:txBody>
                  <a:tcPr marL="22860" marR="22860" marT="15240" marB="15240" anchor="b"/>
                </a:tc>
                <a:tc>
                  <a:txBody>
                    <a:bodyPr/>
                    <a:lstStyle/>
                    <a:p>
                      <a:pPr rtl="0" fontAlgn="b">
                        <a:buNone/>
                      </a:pPr>
                      <a:r>
                        <a:rPr lang="en-US" u="none" dirty="0">
                          <a:effectLst/>
                        </a:rPr>
                        <a:t>Vision-Based Precision Landing: Uses OpenMV camera, AprilTag detection, and Pixhawk flight controller. Offset angles and distance are calculated from camera images and used to guide landing.</a:t>
                      </a:r>
                    </a:p>
                  </a:txBody>
                  <a:tcPr marL="22860" marR="22860" marT="15240" marB="15240" anchor="b"/>
                </a:tc>
                <a:tc>
                  <a:txBody>
                    <a:bodyPr/>
                    <a:lstStyle/>
                    <a:p>
                      <a:pPr rtl="0" fontAlgn="b">
                        <a:buNone/>
                      </a:pPr>
                      <a:r>
                        <a:rPr lang="en-US" u="none" dirty="0">
                          <a:effectLst/>
                        </a:rPr>
                        <a:t>To develop a low-cost autonomous precision landing system for quadcopters using computer vision.</a:t>
                      </a:r>
                    </a:p>
                  </a:txBody>
                  <a:tcPr marL="22860" marR="22860" marT="15240" marB="15240" anchor="b"/>
                </a:tc>
                <a:tc>
                  <a:txBody>
                    <a:bodyPr/>
                    <a:lstStyle/>
                    <a:p>
                      <a:pPr marL="342900" indent="-342900" rtl="0" fontAlgn="b">
                        <a:buAutoNum type="arabicPeriod"/>
                      </a:pPr>
                      <a:r>
                        <a:rPr lang="en-US" u="none" dirty="0">
                          <a:effectLst/>
                        </a:rPr>
                        <a:t>Cost-Effective: Low-cost implementation.</a:t>
                      </a:r>
                    </a:p>
                    <a:p>
                      <a:pPr marL="342900" indent="-342900" rtl="0" fontAlgn="b">
                        <a:buAutoNum type="arabicPeriod"/>
                      </a:pPr>
                      <a:r>
                        <a:rPr lang="en-US" u="none" dirty="0">
                          <a:effectLst/>
                        </a:rPr>
                        <a:t>Accurate: Centimeter-level landing accuracy.</a:t>
                      </a:r>
                    </a:p>
                  </a:txBody>
                  <a:tcPr marL="22860" marR="22860" marT="15240" marB="15240" anchor="b"/>
                </a:tc>
                <a:tc>
                  <a:txBody>
                    <a:bodyPr/>
                    <a:lstStyle/>
                    <a:p>
                      <a:pPr rtl="0" fontAlgn="b">
                        <a:buNone/>
                      </a:pPr>
                      <a:r>
                        <a:rPr lang="en-US" u="none" dirty="0">
                          <a:effectLst/>
                        </a:rPr>
                        <a:t>Works well in controlled environments; accuracy depends on lighting and marker visibility.</a:t>
                      </a:r>
                    </a:p>
                  </a:txBody>
                  <a:tcPr marL="0" marR="0" marT="15240" marB="15240" anchor="b"/>
                </a:tc>
                <a:extLst>
                  <a:ext uri="{0D108BD9-81ED-4DB2-BD59-A6C34878D82A}">
                    <a16:rowId xmlns:a16="http://schemas.microsoft.com/office/drawing/2014/main" val="3672362040"/>
                  </a:ext>
                </a:extLst>
              </a:tr>
              <a:tr h="1295754">
                <a:tc>
                  <a:txBody>
                    <a:bodyPr/>
                    <a:lstStyle/>
                    <a:p>
                      <a:pPr rtl="0" fontAlgn="b">
                        <a:buNone/>
                      </a:pPr>
                      <a:r>
                        <a:rPr lang="en-IN" u="none">
                          <a:effectLst/>
                        </a:rPr>
                        <a:t>[2]</a:t>
                      </a:r>
                    </a:p>
                  </a:txBody>
                  <a:tcPr marL="22860" marR="22860" marT="15240" marB="15240" anchor="b"/>
                </a:tc>
                <a:tc>
                  <a:txBody>
                    <a:bodyPr/>
                    <a:lstStyle/>
                    <a:p>
                      <a:pPr rtl="0" fontAlgn="b">
                        <a:buNone/>
                      </a:pPr>
                      <a:r>
                        <a:rPr lang="en-US" u="none" dirty="0"/>
                        <a:t>A three-stage vision-based system uses vision and motion sensors for approach guidance, final-phase backup, and post-landing verification.</a:t>
                      </a:r>
                      <a:endParaRPr lang="en-US" u="none" dirty="0">
                        <a:effectLst/>
                      </a:endParaRPr>
                    </a:p>
                  </a:txBody>
                  <a:tcPr marL="22860" marR="22860" marT="15240" marB="15240" anchor="b"/>
                </a:tc>
                <a:tc>
                  <a:txBody>
                    <a:bodyPr/>
                    <a:lstStyle/>
                    <a:p>
                      <a:pPr rtl="0" fontAlgn="b">
                        <a:buNone/>
                      </a:pPr>
                      <a:r>
                        <a:rPr lang="en-US" u="none">
                          <a:effectLst/>
                        </a:rPr>
                        <a:t>To improve UAV landing accuracy and reliability in GPS-degraded or denied environments.</a:t>
                      </a:r>
                    </a:p>
                  </a:txBody>
                  <a:tcPr marL="22860" marR="22860" marT="15240" marB="15240" anchor="b"/>
                </a:tc>
                <a:tc>
                  <a:txBody>
                    <a:bodyPr/>
                    <a:lstStyle/>
                    <a:p>
                      <a:pPr rtl="0" fontAlgn="b">
                        <a:buNone/>
                      </a:pPr>
                      <a:r>
                        <a:rPr lang="en-US" u="none" dirty="0">
                          <a:effectLst/>
                        </a:rPr>
                        <a:t>1. Reliability: Robust system with backup mechanisms and verification stage.</a:t>
                      </a:r>
                    </a:p>
                  </a:txBody>
                  <a:tcPr marL="22860" marR="22860" marT="15240" marB="15240" anchor="b"/>
                </a:tc>
                <a:tc>
                  <a:txBody>
                    <a:bodyPr/>
                    <a:lstStyle/>
                    <a:p>
                      <a:pPr rtl="0" fontAlgn="b">
                        <a:buNone/>
                      </a:pPr>
                      <a:r>
                        <a:rPr lang="en-US" u="none">
                          <a:effectLst/>
                        </a:rPr>
                        <a:t>System complexity and hardware requirements are higher compared to basic landing systems.</a:t>
                      </a:r>
                    </a:p>
                  </a:txBody>
                  <a:tcPr marL="0" marR="0" marT="15240" marB="15240" anchor="b"/>
                </a:tc>
                <a:extLst>
                  <a:ext uri="{0D108BD9-81ED-4DB2-BD59-A6C34878D82A}">
                    <a16:rowId xmlns:a16="http://schemas.microsoft.com/office/drawing/2014/main" val="4140884064"/>
                  </a:ext>
                </a:extLst>
              </a:tr>
              <a:tr h="1295754">
                <a:tc>
                  <a:txBody>
                    <a:bodyPr/>
                    <a:lstStyle/>
                    <a:p>
                      <a:pPr rtl="0" fontAlgn="b">
                        <a:buNone/>
                      </a:pPr>
                      <a:r>
                        <a:rPr lang="en-IN" u="none">
                          <a:effectLst/>
                        </a:rPr>
                        <a:t>[3]</a:t>
                      </a:r>
                    </a:p>
                  </a:txBody>
                  <a:tcPr marL="22860" marR="22860" marT="15240" marB="15240" anchor="b"/>
                </a:tc>
                <a:tc>
                  <a:txBody>
                    <a:bodyPr/>
                    <a:lstStyle/>
                    <a:p>
                      <a:pPr rtl="0" fontAlgn="b">
                        <a:buNone/>
                      </a:pPr>
                      <a:r>
                        <a:rPr lang="en-US" u="none" dirty="0">
                          <a:effectLst/>
                        </a:rPr>
                        <a:t>A-Star-Guided Potential Field (AGPF): Algorithm combining global path planning and local obstacle avoidance for UAV navigation.</a:t>
                      </a:r>
                    </a:p>
                  </a:txBody>
                  <a:tcPr marL="22860" marR="22860" marT="15240" marB="15240" anchor="b"/>
                </a:tc>
                <a:tc>
                  <a:txBody>
                    <a:bodyPr/>
                    <a:lstStyle/>
                    <a:p>
                      <a:pPr rtl="0" fontAlgn="b">
                        <a:buNone/>
                      </a:pPr>
                      <a:r>
                        <a:rPr lang="en-US" u="none" dirty="0">
                          <a:effectLst/>
                        </a:rPr>
                        <a:t>To generate optimal and smooth UAV paths while avoiding obstacles in dynamic environments.</a:t>
                      </a:r>
                    </a:p>
                  </a:txBody>
                  <a:tcPr marL="22860" marR="22860" marT="15240" marB="15240" anchor="b"/>
                </a:tc>
                <a:tc>
                  <a:txBody>
                    <a:bodyPr/>
                    <a:lstStyle/>
                    <a:p>
                      <a:pPr rtl="0" fontAlgn="b">
                        <a:buNone/>
                      </a:pPr>
                      <a:r>
                        <a:rPr lang="en-US" u="none" dirty="0">
                          <a:effectLst/>
                        </a:rPr>
                        <a:t>1. Smooth Trajectory: Produces smoother paths.</a:t>
                      </a:r>
                    </a:p>
                  </a:txBody>
                  <a:tcPr marL="22860" marR="22860" marT="15240" marB="15240" anchor="b"/>
                </a:tc>
                <a:tc>
                  <a:txBody>
                    <a:bodyPr/>
                    <a:lstStyle/>
                    <a:p>
                      <a:pPr rtl="0" fontAlgn="b">
                        <a:buNone/>
                      </a:pPr>
                      <a:r>
                        <a:rPr lang="en-US" u="none" dirty="0">
                          <a:effectLst/>
                        </a:rPr>
                        <a:t>Focuses on navigation and path planning rather than landing; useful as an extension to autonomous UAV systems.</a:t>
                      </a:r>
                    </a:p>
                  </a:txBody>
                  <a:tcPr marL="0" marR="0" marT="15240" marB="15240" anchor="b"/>
                </a:tc>
                <a:extLst>
                  <a:ext uri="{0D108BD9-81ED-4DB2-BD59-A6C34878D82A}">
                    <a16:rowId xmlns:a16="http://schemas.microsoft.com/office/drawing/2014/main" val="1144462679"/>
                  </a:ext>
                </a:extLst>
              </a:tr>
            </a:tbl>
          </a:graphicData>
        </a:graphic>
      </p:graphicFrame>
      <p:sp>
        <p:nvSpPr>
          <p:cNvPr id="4" name="Date Placeholder 17">
            <a:extLst>
              <a:ext uri="{FF2B5EF4-FFF2-40B4-BE49-F238E27FC236}">
                <a16:creationId xmlns:a16="http://schemas.microsoft.com/office/drawing/2014/main" id="{17974818-4468-9225-6C6D-05B426903BDF}"/>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5" name="Footer Placeholder 18">
            <a:extLst>
              <a:ext uri="{FF2B5EF4-FFF2-40B4-BE49-F238E27FC236}">
                <a16:creationId xmlns:a16="http://schemas.microsoft.com/office/drawing/2014/main" id="{435A0215-C77C-301F-3F23-AF672A294DBA}"/>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6" name="Slide Number Placeholder 19">
            <a:extLst>
              <a:ext uri="{FF2B5EF4-FFF2-40B4-BE49-F238E27FC236}">
                <a16:creationId xmlns:a16="http://schemas.microsoft.com/office/drawing/2014/main" id="{86881D76-9699-A204-733D-39ABCCF03C46}"/>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6</a:t>
            </a:fld>
            <a:endParaRPr lang="en-IN" sz="1200" b="1" dirty="0">
              <a:solidFill>
                <a:schemeClr val="accent1">
                  <a:lumMod val="75000"/>
                </a:schemeClr>
              </a:solidFill>
              <a:latin typeface="+mj-lt"/>
            </a:endParaRPr>
          </a:p>
        </p:txBody>
      </p:sp>
      <p:sp>
        <p:nvSpPr>
          <p:cNvPr id="7" name="object 8">
            <a:extLst>
              <a:ext uri="{FF2B5EF4-FFF2-40B4-BE49-F238E27FC236}">
                <a16:creationId xmlns:a16="http://schemas.microsoft.com/office/drawing/2014/main" id="{F078780C-836A-4C9C-1631-1075CA2E9B26}"/>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CEB6E08-EF77-F0E0-7CBF-D5AC3BE60629}"/>
              </a:ext>
            </a:extLst>
          </p:cNvPr>
          <p:cNvSpPr>
            <a:spLocks noGrp="1"/>
          </p:cNvSpPr>
          <p:nvPr>
            <p:ph type="body" idx="1"/>
          </p:nvPr>
        </p:nvSpPr>
        <p:spPr>
          <a:xfrm>
            <a:off x="476758" y="1430447"/>
            <a:ext cx="11150600" cy="4382225"/>
          </a:xfrm>
        </p:spPr>
        <p:txBody>
          <a:bodyPr/>
          <a:lstStyle/>
          <a:p>
            <a:pPr algn="ctr">
              <a:lnSpc>
                <a:spcPct val="150000"/>
              </a:lnSpc>
            </a:pPr>
            <a:r>
              <a:rPr lang="en-US" sz="2400" b="1" dirty="0">
                <a:latin typeface="Times New Roman" panose="02020603050405020304" pitchFamily="18" charset="0"/>
                <a:cs typeface="Times New Roman" panose="02020603050405020304" pitchFamily="18" charset="0"/>
              </a:rPr>
              <a:t>PROBLEM STATEMENT</a:t>
            </a:r>
            <a:endParaRPr lang="en-US" sz="2400" b="1" spc="-10" dirty="0">
              <a:latin typeface="Times New Roman" panose="02020603050405020304" pitchFamily="18" charset="0"/>
              <a:cs typeface="Times New Roman" panose="02020603050405020304" pitchFamily="18" charset="0"/>
            </a:endParaRPr>
          </a:p>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GPS-only landing guidance exhibits lateral errors of one to three metres under nominal conditions and fails entirely in GPS-denied environments. Commercial precision landing solutions that meet sub-decimetre accuracy requirements are either prohibitively expensive or tightly integrated into proprietary drone platforms that resist independent sensor integration. There is therefore a clear engineering requirement for a cost-effective, open-architecture precision landing system that combines affordable machine-vision hardware with established open-source autopilot firmware to achieve centimetre-level landing accuracy independent of GNSS availability.</a:t>
            </a:r>
          </a:p>
        </p:txBody>
      </p:sp>
      <p:pic>
        <p:nvPicPr>
          <p:cNvPr id="5" name="object 3">
            <a:extLst>
              <a:ext uri="{FF2B5EF4-FFF2-40B4-BE49-F238E27FC236}">
                <a16:creationId xmlns:a16="http://schemas.microsoft.com/office/drawing/2014/main" id="{D0FBB96B-646C-80E1-1AD0-15CE7E1F2B32}"/>
              </a:ext>
            </a:extLst>
          </p:cNvPr>
          <p:cNvPicPr/>
          <p:nvPr/>
        </p:nvPicPr>
        <p:blipFill>
          <a:blip r:embed="rId2" cstate="print"/>
          <a:stretch>
            <a:fillRect/>
          </a:stretch>
        </p:blipFill>
        <p:spPr>
          <a:xfrm>
            <a:off x="0" y="0"/>
            <a:ext cx="12191999" cy="1430446"/>
          </a:xfrm>
          <a:prstGeom prst="rect">
            <a:avLst/>
          </a:prstGeom>
        </p:spPr>
      </p:pic>
      <p:sp>
        <p:nvSpPr>
          <p:cNvPr id="8" name="Date Placeholder 17">
            <a:extLst>
              <a:ext uri="{FF2B5EF4-FFF2-40B4-BE49-F238E27FC236}">
                <a16:creationId xmlns:a16="http://schemas.microsoft.com/office/drawing/2014/main" id="{1B9BF845-1CCB-9B10-66C5-E0836AC16097}"/>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9" name="Footer Placeholder 18">
            <a:extLst>
              <a:ext uri="{FF2B5EF4-FFF2-40B4-BE49-F238E27FC236}">
                <a16:creationId xmlns:a16="http://schemas.microsoft.com/office/drawing/2014/main" id="{F066CC62-56B6-6905-3CAE-F696E12DC77A}"/>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10" name="Slide Number Placeholder 19">
            <a:extLst>
              <a:ext uri="{FF2B5EF4-FFF2-40B4-BE49-F238E27FC236}">
                <a16:creationId xmlns:a16="http://schemas.microsoft.com/office/drawing/2014/main" id="{2722BEDD-47D0-D4ED-A379-13DF3A4404B9}"/>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7</a:t>
            </a:fld>
            <a:endParaRPr lang="en-IN" sz="1200" b="1" dirty="0">
              <a:solidFill>
                <a:schemeClr val="accent1">
                  <a:lumMod val="75000"/>
                </a:schemeClr>
              </a:solidFill>
              <a:latin typeface="+mj-lt"/>
            </a:endParaRPr>
          </a:p>
        </p:txBody>
      </p:sp>
      <p:sp>
        <p:nvSpPr>
          <p:cNvPr id="11" name="object 8">
            <a:extLst>
              <a:ext uri="{FF2B5EF4-FFF2-40B4-BE49-F238E27FC236}">
                <a16:creationId xmlns:a16="http://schemas.microsoft.com/office/drawing/2014/main" id="{2C2EAE52-95DF-5414-2794-00FDC79ACB7A}"/>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1256691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9B0A51-56C6-99F5-7976-0B59A61D8FA1}"/>
              </a:ext>
            </a:extLst>
          </p:cNvPr>
          <p:cNvSpPr>
            <a:spLocks noGrp="1"/>
          </p:cNvSpPr>
          <p:nvPr>
            <p:ph type="body" idx="1"/>
          </p:nvPr>
        </p:nvSpPr>
        <p:spPr>
          <a:xfrm>
            <a:off x="520699" y="2321004"/>
            <a:ext cx="11150600" cy="2215991"/>
          </a:xfrm>
        </p:spPr>
        <p:txBody>
          <a:bodyPr/>
          <a:lstStyle/>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 a quadcopter UAV precision landing system with vision-based control that achieves centimetre-level landing accuracy on a designated pad independent of GNSS availability.</a:t>
            </a:r>
          </a:p>
          <a:p>
            <a:pPr algn="l"/>
            <a:r>
              <a:rPr lang="en-US" dirty="0">
                <a:latin typeface="Times New Roman" panose="02020603050405020304" pitchFamily="18" charset="0"/>
                <a:cs typeface="Times New Roman" panose="02020603050405020304" pitchFamily="18" charset="0"/>
              </a:rPr>
              <a:t> </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an OpenMV H7 camera for AprilTag detection and angular offset computation, with a Pixhawk 2.4.8 flight controller configured for closed-loop precision descent via MAVLink LANDING_TARGET messages.</a:t>
            </a:r>
          </a:p>
          <a:p>
            <a:pPr algn="l"/>
            <a:r>
              <a:rPr lang="en-US" dirty="0">
                <a:latin typeface="Times New Roman" panose="02020603050405020304" pitchFamily="18" charset="0"/>
                <a:cs typeface="Times New Roman" panose="02020603050405020304" pitchFamily="18" charset="0"/>
              </a:rPr>
              <a:t> </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stable precision landing in Stabilize, Loiter, and Auto flight modes across outdoor, semi-outdoor, and indoor environments with varying GPS signal quality.</a:t>
            </a:r>
          </a:p>
        </p:txBody>
      </p:sp>
      <p:pic>
        <p:nvPicPr>
          <p:cNvPr id="4" name="object 3">
            <a:extLst>
              <a:ext uri="{FF2B5EF4-FFF2-40B4-BE49-F238E27FC236}">
                <a16:creationId xmlns:a16="http://schemas.microsoft.com/office/drawing/2014/main" id="{F2EC1B38-81A9-5738-08E8-FA461A9CBE15}"/>
              </a:ext>
            </a:extLst>
          </p:cNvPr>
          <p:cNvPicPr/>
          <p:nvPr/>
        </p:nvPicPr>
        <p:blipFill>
          <a:blip r:embed="rId2" cstate="print"/>
          <a:stretch>
            <a:fillRect/>
          </a:stretch>
        </p:blipFill>
        <p:spPr>
          <a:xfrm>
            <a:off x="0" y="0"/>
            <a:ext cx="12191999" cy="1430446"/>
          </a:xfrm>
          <a:prstGeom prst="rect">
            <a:avLst/>
          </a:prstGeom>
        </p:spPr>
      </p:pic>
      <p:sp>
        <p:nvSpPr>
          <p:cNvPr id="5" name="TextBox 4">
            <a:extLst>
              <a:ext uri="{FF2B5EF4-FFF2-40B4-BE49-F238E27FC236}">
                <a16:creationId xmlns:a16="http://schemas.microsoft.com/office/drawing/2014/main" id="{254FFCBA-1242-5A3C-D173-055415C3CFDA}"/>
              </a:ext>
            </a:extLst>
          </p:cNvPr>
          <p:cNvSpPr txBox="1"/>
          <p:nvPr/>
        </p:nvSpPr>
        <p:spPr>
          <a:xfrm>
            <a:off x="3647728" y="1628800"/>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OBJECTIVE OF THE PROJECT</a:t>
            </a:r>
            <a:endParaRPr lang="en-IN" sz="2400" dirty="0"/>
          </a:p>
        </p:txBody>
      </p:sp>
      <p:sp>
        <p:nvSpPr>
          <p:cNvPr id="6" name="Date Placeholder 17">
            <a:extLst>
              <a:ext uri="{FF2B5EF4-FFF2-40B4-BE49-F238E27FC236}">
                <a16:creationId xmlns:a16="http://schemas.microsoft.com/office/drawing/2014/main" id="{C97C8EBF-C1E5-551B-087E-9DDA57EABB2D}"/>
              </a:ext>
            </a:extLst>
          </p:cNvPr>
          <p:cNvSpPr>
            <a:spLocks noGrp="1"/>
          </p:cNvSpPr>
          <p:nvPr>
            <p:ph type="dt" sz="half" idx="6"/>
          </p:nvPr>
        </p:nvSpPr>
        <p:spPr>
          <a:xfrm>
            <a:off x="351305" y="6587300"/>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7" name="Footer Placeholder 18">
            <a:extLst>
              <a:ext uri="{FF2B5EF4-FFF2-40B4-BE49-F238E27FC236}">
                <a16:creationId xmlns:a16="http://schemas.microsoft.com/office/drawing/2014/main" id="{36F7668F-3758-72D3-024C-3C37AA108352}"/>
              </a:ext>
            </a:extLst>
          </p:cNvPr>
          <p:cNvSpPr>
            <a:spLocks noGrp="1"/>
          </p:cNvSpPr>
          <p:nvPr>
            <p:ph type="ftr" sz="quarter" idx="5"/>
          </p:nvPr>
        </p:nvSpPr>
        <p:spPr>
          <a:xfrm>
            <a:off x="1919536" y="6587300"/>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8" name="Slide Number Placeholder 19">
            <a:extLst>
              <a:ext uri="{FF2B5EF4-FFF2-40B4-BE49-F238E27FC236}">
                <a16:creationId xmlns:a16="http://schemas.microsoft.com/office/drawing/2014/main" id="{EE3CF55A-4BB9-8BEE-9730-F01250FA03A6}"/>
              </a:ext>
            </a:extLst>
          </p:cNvPr>
          <p:cNvSpPr>
            <a:spLocks noGrp="1"/>
          </p:cNvSpPr>
          <p:nvPr>
            <p:ph type="sldNum" sz="quarter" idx="7"/>
          </p:nvPr>
        </p:nvSpPr>
        <p:spPr>
          <a:xfrm>
            <a:off x="11508452" y="6576362"/>
            <a:ext cx="349003" cy="184666"/>
          </a:xfrm>
        </p:spPr>
        <p:txBody>
          <a:bodyPr/>
          <a:lstStyle/>
          <a:p>
            <a:fld id="{B6F15528-21DE-4FAA-801E-634DDDAF4B2B}" type="slidenum">
              <a:rPr lang="en-IN" sz="1200" b="1" smtClean="0">
                <a:solidFill>
                  <a:schemeClr val="accent1">
                    <a:lumMod val="75000"/>
                  </a:schemeClr>
                </a:solidFill>
                <a:latin typeface="+mj-lt"/>
              </a:rPr>
              <a:pPr/>
              <a:t>8</a:t>
            </a:fld>
            <a:endParaRPr lang="en-IN" sz="1200" b="1" dirty="0">
              <a:solidFill>
                <a:schemeClr val="accent1">
                  <a:lumMod val="75000"/>
                </a:schemeClr>
              </a:solidFill>
              <a:latin typeface="+mj-lt"/>
            </a:endParaRPr>
          </a:p>
        </p:txBody>
      </p:sp>
      <p:sp>
        <p:nvSpPr>
          <p:cNvPr id="10" name="object 8">
            <a:extLst>
              <a:ext uri="{FF2B5EF4-FFF2-40B4-BE49-F238E27FC236}">
                <a16:creationId xmlns:a16="http://schemas.microsoft.com/office/drawing/2014/main" id="{3ADFF088-805A-4912-909A-28B4ED012895}"/>
              </a:ext>
            </a:extLst>
          </p:cNvPr>
          <p:cNvSpPr/>
          <p:nvPr/>
        </p:nvSpPr>
        <p:spPr>
          <a:xfrm>
            <a:off x="11700805" y="6486132"/>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2835594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55840" y="1451608"/>
            <a:ext cx="3168352" cy="382156"/>
          </a:xfrm>
          <a:prstGeom prst="rect">
            <a:avLst/>
          </a:prstGeom>
        </p:spPr>
        <p:txBody>
          <a:bodyPr vert="horz" wrap="square" lIns="0" tIns="12700" rIns="0" bIns="0" rtlCol="0">
            <a:spAutoFit/>
          </a:bodyPr>
          <a:lstStyle/>
          <a:p>
            <a:pPr marL="12700">
              <a:lnSpc>
                <a:spcPct val="100000"/>
              </a:lnSpc>
              <a:spcBef>
                <a:spcPts val="100"/>
              </a:spcBef>
            </a:pPr>
            <a:r>
              <a:rPr lang="en-US" spc="-10" dirty="0"/>
              <a:t>  </a:t>
            </a:r>
            <a:r>
              <a:rPr spc="-10" dirty="0"/>
              <a:t>M</a:t>
            </a:r>
            <a:r>
              <a:rPr lang="en-US" spc="-10" dirty="0"/>
              <a:t>ETHODOLOGY</a:t>
            </a:r>
            <a:endParaRPr spc="-10" dirty="0"/>
          </a:p>
        </p:txBody>
      </p:sp>
      <p:pic>
        <p:nvPicPr>
          <p:cNvPr id="7" name="object 7"/>
          <p:cNvPicPr/>
          <p:nvPr/>
        </p:nvPicPr>
        <p:blipFill>
          <a:blip r:embed="rId2" cstate="print"/>
          <a:stretch>
            <a:fillRect/>
          </a:stretch>
        </p:blipFill>
        <p:spPr>
          <a:xfrm>
            <a:off x="0" y="0"/>
            <a:ext cx="12191999" cy="1451608"/>
          </a:xfrm>
          <a:prstGeom prst="rect">
            <a:avLst/>
          </a:prstGeom>
        </p:spPr>
      </p:pic>
      <p:graphicFrame>
        <p:nvGraphicFramePr>
          <p:cNvPr id="8" name="object 8"/>
          <p:cNvGraphicFramePr>
            <a:graphicFrameLocks noGrp="1"/>
          </p:cNvGraphicFramePr>
          <p:nvPr/>
        </p:nvGraphicFramePr>
        <p:xfrm>
          <a:off x="380960" y="2143116"/>
          <a:ext cx="11061700" cy="3904615"/>
        </p:xfrm>
        <a:graphic>
          <a:graphicData uri="http://schemas.openxmlformats.org/drawingml/2006/table">
            <a:tbl>
              <a:tblPr firstRow="1" bandRow="1">
                <a:tableStyleId>{08FB837D-C827-4EFA-A057-4D05807E0F7C}</a:tableStyleId>
              </a:tblPr>
              <a:tblGrid>
                <a:gridCol w="3108325">
                  <a:extLst>
                    <a:ext uri="{9D8B030D-6E8A-4147-A177-3AD203B41FA5}">
                      <a16:colId xmlns:a16="http://schemas.microsoft.com/office/drawing/2014/main" val="20000"/>
                    </a:ext>
                  </a:extLst>
                </a:gridCol>
                <a:gridCol w="7953375">
                  <a:extLst>
                    <a:ext uri="{9D8B030D-6E8A-4147-A177-3AD203B41FA5}">
                      <a16:colId xmlns:a16="http://schemas.microsoft.com/office/drawing/2014/main" val="20001"/>
                    </a:ext>
                  </a:extLst>
                </a:gridCol>
              </a:tblGrid>
              <a:tr h="0">
                <a:tc>
                  <a:txBody>
                    <a:bodyPr/>
                    <a:lstStyle/>
                    <a:p>
                      <a:pPr algn="ctr">
                        <a:lnSpc>
                          <a:spcPct val="100000"/>
                        </a:lnSpc>
                        <a:spcBef>
                          <a:spcPts val="1135"/>
                        </a:spcBef>
                      </a:pPr>
                      <a:r>
                        <a:rPr sz="1800" spc="-10" dirty="0">
                          <a:solidFill>
                            <a:schemeClr val="tx1">
                              <a:lumMod val="95000"/>
                              <a:lumOff val="5000"/>
                            </a:schemeClr>
                          </a:solidFill>
                          <a:latin typeface="Times New Roman" pitchFamily="18" charset="0"/>
                          <a:cs typeface="Times New Roman" pitchFamily="18" charset="0"/>
                        </a:rPr>
                        <a:t>Component</a:t>
                      </a:r>
                      <a:endParaRPr sz="1800">
                        <a:solidFill>
                          <a:schemeClr val="tx1">
                            <a:lumMod val="95000"/>
                            <a:lumOff val="5000"/>
                          </a:schemeClr>
                        </a:solidFill>
                        <a:latin typeface="Times New Roman" pitchFamily="18" charset="0"/>
                        <a:cs typeface="Times New Roman" pitchFamily="18" charset="0"/>
                      </a:endParaRPr>
                    </a:p>
                  </a:txBody>
                  <a:tcPr marL="0" marR="0" marT="14414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lnSpc>
                          <a:spcPct val="100000"/>
                        </a:lnSpc>
                        <a:spcBef>
                          <a:spcPts val="225"/>
                        </a:spcBef>
                      </a:pPr>
                      <a:r>
                        <a:rPr sz="1800" spc="-10" dirty="0">
                          <a:solidFill>
                            <a:schemeClr val="tx1">
                              <a:lumMod val="95000"/>
                              <a:lumOff val="5000"/>
                            </a:schemeClr>
                          </a:solidFill>
                          <a:latin typeface="Times New Roman" pitchFamily="18" charset="0"/>
                          <a:cs typeface="Times New Roman" pitchFamily="18" charset="0"/>
                        </a:rPr>
                        <a:t>Approach</a:t>
                      </a:r>
                      <a:endParaRPr sz="1800">
                        <a:solidFill>
                          <a:schemeClr val="tx1">
                            <a:lumMod val="95000"/>
                            <a:lumOff val="5000"/>
                          </a:schemeClr>
                        </a:solidFill>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0"/>
                  </a:ext>
                </a:extLst>
              </a:tr>
              <a:tr h="581025">
                <a:tc>
                  <a:txBody>
                    <a:bodyPr/>
                    <a:lstStyle/>
                    <a:p>
                      <a:pPr algn="ctr">
                        <a:lnSpc>
                          <a:spcPct val="100000"/>
                        </a:lnSpc>
                        <a:spcBef>
                          <a:spcPts val="225"/>
                        </a:spcBef>
                      </a:pPr>
                      <a:r>
                        <a:rPr sz="1800" spc="-10" dirty="0">
                          <a:latin typeface="Times New Roman" pitchFamily="18" charset="0"/>
                          <a:cs typeface="Times New Roman" pitchFamily="18" charset="0"/>
                        </a:rPr>
                        <a:t>Flight Controller</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5725">
                        <a:lnSpc>
                          <a:spcPct val="100000"/>
                        </a:lnSpc>
                        <a:spcBef>
                          <a:spcPts val="225"/>
                        </a:spcBef>
                      </a:pPr>
                      <a:r>
                        <a:rPr sz="1800" dirty="0">
                          <a:latin typeface="Times New Roman" pitchFamily="18" charset="0"/>
                          <a:cs typeface="Times New Roman" pitchFamily="18" charset="0"/>
                        </a:rPr>
                        <a:t>Pixhawk 2.4.8 with ArduCopter 4.0.7 firmware</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1025">
                <a:tc>
                  <a:txBody>
                    <a:bodyPr/>
                    <a:lstStyle/>
                    <a:p>
                      <a:pPr algn="ctr">
                        <a:lnSpc>
                          <a:spcPct val="100000"/>
                        </a:lnSpc>
                        <a:spcBef>
                          <a:spcPts val="225"/>
                        </a:spcBef>
                      </a:pPr>
                      <a:r>
                        <a:rPr sz="1800" spc="-10" dirty="0">
                          <a:latin typeface="Times New Roman" pitchFamily="18" charset="0"/>
                          <a:cs typeface="Times New Roman" pitchFamily="18" charset="0"/>
                        </a:rPr>
                        <a:t>Vision System</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5725">
                        <a:lnSpc>
                          <a:spcPct val="100000"/>
                        </a:lnSpc>
                        <a:spcBef>
                          <a:spcPts val="225"/>
                        </a:spcBef>
                      </a:pPr>
                      <a:r>
                        <a:rPr sz="1800" spc="-10" dirty="0">
                          <a:latin typeface="Times New Roman" pitchFamily="18" charset="0"/>
                          <a:cs typeface="Times New Roman" pitchFamily="18" charset="0"/>
                        </a:rPr>
                        <a:t>OpenMV H7 camera with AprilTag36h11 detection</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81025">
                <a:tc>
                  <a:txBody>
                    <a:bodyPr/>
                    <a:lstStyle/>
                    <a:p>
                      <a:pPr algn="ctr">
                        <a:lnSpc>
                          <a:spcPct val="100000"/>
                        </a:lnSpc>
                        <a:spcBef>
                          <a:spcPts val="225"/>
                        </a:spcBef>
                      </a:pPr>
                      <a:r>
                        <a:rPr sz="1800" spc="-10" dirty="0">
                          <a:latin typeface="Times New Roman" pitchFamily="18" charset="0"/>
                          <a:cs typeface="Times New Roman" pitchFamily="18" charset="0"/>
                        </a:rPr>
                        <a:t>Communication</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5725">
                        <a:lnSpc>
                          <a:spcPct val="100000"/>
                        </a:lnSpc>
                        <a:spcBef>
                          <a:spcPts val="225"/>
                        </a:spcBef>
                      </a:pPr>
                      <a:r>
                        <a:rPr sz="1800" spc="-20" dirty="0">
                          <a:latin typeface="Times New Roman" pitchFamily="18" charset="0"/>
                          <a:cs typeface="Times New Roman" pitchFamily="18" charset="0"/>
                        </a:rPr>
                        <a:t>MAVLink LANDING_TARGET messages via SERIAL4 UART</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81025">
                <a:tc>
                  <a:txBody>
                    <a:bodyPr/>
                    <a:lstStyle/>
                    <a:p>
                      <a:pPr algn="ctr">
                        <a:lnSpc>
                          <a:spcPct val="100000"/>
                        </a:lnSpc>
                        <a:spcBef>
                          <a:spcPts val="225"/>
                        </a:spcBef>
                      </a:pPr>
                      <a:r>
                        <a:rPr sz="1800" spc="-10" dirty="0">
                          <a:latin typeface="Times New Roman" pitchFamily="18" charset="0"/>
                          <a:cs typeface="Times New Roman" pitchFamily="18" charset="0"/>
                        </a:rPr>
                        <a:t>State Estimation</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5725">
                        <a:lnSpc>
                          <a:spcPct val="100000"/>
                        </a:lnSpc>
                        <a:spcBef>
                          <a:spcPts val="225"/>
                        </a:spcBef>
                      </a:pPr>
                      <a:r>
                        <a:rPr sz="1800" dirty="0">
                          <a:latin typeface="Times New Roman" pitchFamily="18" charset="0"/>
                          <a:cs typeface="Times New Roman" pitchFamily="18" charset="0"/>
                        </a:rPr>
                        <a:t>Extended Kalman Filter (EKF2) sensor fusion</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81025">
                <a:tc>
                  <a:txBody>
                    <a:bodyPr/>
                    <a:lstStyle/>
                    <a:p>
                      <a:pPr algn="ctr">
                        <a:lnSpc>
                          <a:spcPct val="100000"/>
                        </a:lnSpc>
                        <a:spcBef>
                          <a:spcPts val="225"/>
                        </a:spcBef>
                      </a:pPr>
                      <a:r>
                        <a:rPr sz="1800" dirty="0">
                          <a:latin typeface="Times New Roman" pitchFamily="18" charset="0"/>
                          <a:cs typeface="Times New Roman" pitchFamily="18" charset="0"/>
                        </a:rPr>
                        <a:t>Control Strategy</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5725">
                        <a:lnSpc>
                          <a:spcPct val="100000"/>
                        </a:lnSpc>
                        <a:spcBef>
                          <a:spcPts val="225"/>
                        </a:spcBef>
                      </a:pPr>
                      <a:r>
                        <a:rPr sz="1800" spc="-10" dirty="0">
                          <a:latin typeface="Times New Roman" pitchFamily="18" charset="0"/>
                          <a:cs typeface="Times New Roman" pitchFamily="18" charset="0"/>
                        </a:rPr>
                        <a:t>Cascaded PID control for attitude and position</a:t>
                      </a:r>
                      <a:endParaRPr sz="180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81025">
                <a:tc>
                  <a:txBody>
                    <a:bodyPr/>
                    <a:lstStyle/>
                    <a:p>
                      <a:pPr algn="ctr">
                        <a:lnSpc>
                          <a:spcPct val="100000"/>
                        </a:lnSpc>
                        <a:spcBef>
                          <a:spcPts val="225"/>
                        </a:spcBef>
                      </a:pPr>
                      <a:r>
                        <a:rPr sz="1800" spc="-10" dirty="0">
                          <a:latin typeface="Times New Roman" pitchFamily="18" charset="0"/>
                          <a:cs typeface="Times New Roman" pitchFamily="18" charset="0"/>
                        </a:rPr>
                        <a:t>Performance Validation</a:t>
                      </a:r>
                      <a:endParaRPr sz="1800" dirty="0">
                        <a:latin typeface="Times New Roman" pitchFamily="18" charset="0"/>
                        <a:cs typeface="Times New Roman" pitchFamily="18" charset="0"/>
                      </a:endParaRPr>
                    </a:p>
                  </a:txBody>
                  <a:tcPr marL="0" marR="0" marT="2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5725">
                        <a:lnSpc>
                          <a:spcPct val="100000"/>
                        </a:lnSpc>
                        <a:spcBef>
                          <a:spcPts val="1135"/>
                        </a:spcBef>
                      </a:pPr>
                      <a:r>
                        <a:rPr sz="1800" dirty="0">
                          <a:latin typeface="Times New Roman" pitchFamily="18" charset="0"/>
                          <a:cs typeface="Times New Roman" pitchFamily="18" charset="0"/>
                        </a:rPr>
                        <a:t>Landing deviation testing across outdoor, indoor, GPS-denied environments</a:t>
                      </a:r>
                    </a:p>
                  </a:txBody>
                  <a:tcPr marL="0" marR="0" marT="14414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object 8">
            <a:extLst>
              <a:ext uri="{FF2B5EF4-FFF2-40B4-BE49-F238E27FC236}">
                <a16:creationId xmlns:a16="http://schemas.microsoft.com/office/drawing/2014/main" id="{BD802289-7283-DF4A-B775-86914B47A56A}"/>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
        <p:nvSpPr>
          <p:cNvPr id="4" name="Date Placeholder 17">
            <a:extLst>
              <a:ext uri="{FF2B5EF4-FFF2-40B4-BE49-F238E27FC236}">
                <a16:creationId xmlns:a16="http://schemas.microsoft.com/office/drawing/2014/main" id="{100D6380-7588-4AEB-36B9-178ACD8B20D6}"/>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5" name="Footer Placeholder 18">
            <a:extLst>
              <a:ext uri="{FF2B5EF4-FFF2-40B4-BE49-F238E27FC236}">
                <a16:creationId xmlns:a16="http://schemas.microsoft.com/office/drawing/2014/main" id="{66087D46-D349-8A41-D89F-8F9DFC9F674D}"/>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6" name="Slide Number Placeholder 19">
            <a:extLst>
              <a:ext uri="{FF2B5EF4-FFF2-40B4-BE49-F238E27FC236}">
                <a16:creationId xmlns:a16="http://schemas.microsoft.com/office/drawing/2014/main" id="{3E17CBAA-E5DB-1F52-5AA3-2498FA8C0E7B}"/>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9</a:t>
            </a:fld>
            <a:endParaRPr lang="en-IN" sz="1200" b="1" dirty="0">
              <a:solidFill>
                <a:schemeClr val="accent1">
                  <a:lumMod val="75000"/>
                </a:schemeClr>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1E239C2C-7CC2-A175-B304-6A15713AA0AF}"/>
              </a:ext>
            </a:extLst>
          </p:cNvPr>
          <p:cNvPicPr/>
          <p:nvPr/>
        </p:nvPicPr>
        <p:blipFill>
          <a:blip r:embed="rId2" cstate="print"/>
          <a:stretch>
            <a:fillRect/>
          </a:stretch>
        </p:blipFill>
        <p:spPr>
          <a:xfrm>
            <a:off x="0" y="0"/>
            <a:ext cx="12191999" cy="1430446"/>
          </a:xfrm>
          <a:prstGeom prst="rect">
            <a:avLst/>
          </a:prstGeom>
        </p:spPr>
      </p:pic>
      <p:sp>
        <p:nvSpPr>
          <p:cNvPr id="3" name="Date Placeholder 17">
            <a:extLst>
              <a:ext uri="{FF2B5EF4-FFF2-40B4-BE49-F238E27FC236}">
                <a16:creationId xmlns:a16="http://schemas.microsoft.com/office/drawing/2014/main" id="{5D5C4188-CD9A-DF5F-C584-D118BC16832C}"/>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4" name="Footer Placeholder 18">
            <a:extLst>
              <a:ext uri="{FF2B5EF4-FFF2-40B4-BE49-F238E27FC236}">
                <a16:creationId xmlns:a16="http://schemas.microsoft.com/office/drawing/2014/main" id="{0D964C53-1FA2-7ED5-DD37-DFFE1E44E513}"/>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5" name="Slide Number Placeholder 19">
            <a:extLst>
              <a:ext uri="{FF2B5EF4-FFF2-40B4-BE49-F238E27FC236}">
                <a16:creationId xmlns:a16="http://schemas.microsoft.com/office/drawing/2014/main" id="{2CEF4FD0-AFCA-D509-6E5B-D2BEFB6FB069}"/>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10</a:t>
            </a:fld>
            <a:endParaRPr lang="en-IN" sz="1200" b="1" dirty="0">
              <a:solidFill>
                <a:schemeClr val="accent1">
                  <a:lumMod val="75000"/>
                </a:schemeClr>
              </a:solidFill>
              <a:latin typeface="+mj-lt"/>
            </a:endParaRPr>
          </a:p>
        </p:txBody>
      </p:sp>
      <p:pic>
        <p:nvPicPr>
          <p:cNvPr id="7" name="Picture 6">
            <a:extLst>
              <a:ext uri="{FF2B5EF4-FFF2-40B4-BE49-F238E27FC236}">
                <a16:creationId xmlns:a16="http://schemas.microsoft.com/office/drawing/2014/main" id="{562C3727-9AE0-528E-14FA-ED886420CED2}"/>
              </a:ext>
            </a:extLst>
          </p:cNvPr>
          <p:cNvPicPr>
            <a:picLocks noChangeAspect="1"/>
          </p:cNvPicPr>
          <p:nvPr/>
        </p:nvPicPr>
        <p:blipFill>
          <a:blip r:embed="rId3">
            <a:extLst>
              <a:ext uri="{28A0092B-C50C-407E-A947-70E740481C1C}">
                <a14:useLocalDpi xmlns:a14="http://schemas.microsoft.com/office/drawing/2010/main" val="0"/>
              </a:ext>
            </a:extLst>
          </a:blip>
          <a:srcRect b="5360"/>
          <a:stretch>
            <a:fillRect/>
          </a:stretch>
        </p:blipFill>
        <p:spPr>
          <a:xfrm>
            <a:off x="609599" y="1844824"/>
            <a:ext cx="10972800" cy="4566221"/>
          </a:xfrm>
          <a:prstGeom prst="rect">
            <a:avLst/>
          </a:prstGeom>
        </p:spPr>
      </p:pic>
      <p:sp>
        <p:nvSpPr>
          <p:cNvPr id="10" name="TextBox 9">
            <a:extLst>
              <a:ext uri="{FF2B5EF4-FFF2-40B4-BE49-F238E27FC236}">
                <a16:creationId xmlns:a16="http://schemas.microsoft.com/office/drawing/2014/main" id="{8D62D9F1-D5D8-ED7B-8702-DFEE5A766506}"/>
              </a:ext>
            </a:extLst>
          </p:cNvPr>
          <p:cNvSpPr txBox="1"/>
          <p:nvPr/>
        </p:nvSpPr>
        <p:spPr>
          <a:xfrm>
            <a:off x="4727848" y="1389434"/>
            <a:ext cx="6096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BLOCK DIAGRAM</a:t>
            </a:r>
            <a:endParaRPr lang="en-IN" dirty="0"/>
          </a:p>
        </p:txBody>
      </p:sp>
    </p:spTree>
    <p:extLst>
      <p:ext uri="{BB962C8B-B14F-4D97-AF65-F5344CB8AC3E}">
        <p14:creationId xmlns:p14="http://schemas.microsoft.com/office/powerpoint/2010/main" val="3396749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DA61EDC8-C340-1682-8AEA-BB1B35089E39}"/>
              </a:ext>
            </a:extLst>
          </p:cNvPr>
          <p:cNvSpPr/>
          <p:nvPr/>
        </p:nvSpPr>
        <p:spPr>
          <a:xfrm>
            <a:off x="4791456" y="62865"/>
            <a:ext cx="1926336" cy="5349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3" name="Rectangle 2">
            <a:extLst>
              <a:ext uri="{FF2B5EF4-FFF2-40B4-BE49-F238E27FC236}">
                <a16:creationId xmlns:a16="http://schemas.microsoft.com/office/drawing/2014/main" id="{78727AE8-EE1E-D122-0259-596C0F6E86E5}"/>
              </a:ext>
            </a:extLst>
          </p:cNvPr>
          <p:cNvSpPr/>
          <p:nvPr/>
        </p:nvSpPr>
        <p:spPr>
          <a:xfrm>
            <a:off x="2468880" y="660654"/>
            <a:ext cx="6885432" cy="34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Initialize UAV, sensors, and AprilTag marker</a:t>
            </a:r>
          </a:p>
        </p:txBody>
      </p:sp>
      <p:sp>
        <p:nvSpPr>
          <p:cNvPr id="4" name="Rectangle 3">
            <a:extLst>
              <a:ext uri="{FF2B5EF4-FFF2-40B4-BE49-F238E27FC236}">
                <a16:creationId xmlns:a16="http://schemas.microsoft.com/office/drawing/2014/main" id="{C63C4182-5363-799F-E831-4C4FB855861C}"/>
              </a:ext>
            </a:extLst>
          </p:cNvPr>
          <p:cNvSpPr/>
          <p:nvPr/>
        </p:nvSpPr>
        <p:spPr>
          <a:xfrm>
            <a:off x="2459736" y="1136145"/>
            <a:ext cx="6885432" cy="3046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OpenMV H7 detects AprilTag marker</a:t>
            </a:r>
          </a:p>
        </p:txBody>
      </p:sp>
      <p:sp>
        <p:nvSpPr>
          <p:cNvPr id="5" name="Rectangle 4">
            <a:extLst>
              <a:ext uri="{FF2B5EF4-FFF2-40B4-BE49-F238E27FC236}">
                <a16:creationId xmlns:a16="http://schemas.microsoft.com/office/drawing/2014/main" id="{90B93E02-EB5F-7E99-5082-16991C5B8FC8}"/>
              </a:ext>
            </a:extLst>
          </p:cNvPr>
          <p:cNvSpPr/>
          <p:nvPr/>
        </p:nvSpPr>
        <p:spPr>
          <a:xfrm>
            <a:off x="3619123" y="1583064"/>
            <a:ext cx="4684360" cy="4011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Compute angular offsets (angle_x, angle_y)</a:t>
            </a:r>
          </a:p>
        </p:txBody>
      </p:sp>
      <p:sp>
        <p:nvSpPr>
          <p:cNvPr id="7" name="Flowchart: Preparation 6">
            <a:extLst>
              <a:ext uri="{FF2B5EF4-FFF2-40B4-BE49-F238E27FC236}">
                <a16:creationId xmlns:a16="http://schemas.microsoft.com/office/drawing/2014/main" id="{72C52D7A-9F6A-96E4-25B3-2365953FB1D8}"/>
              </a:ext>
            </a:extLst>
          </p:cNvPr>
          <p:cNvSpPr/>
          <p:nvPr/>
        </p:nvSpPr>
        <p:spPr>
          <a:xfrm>
            <a:off x="2459736" y="2105408"/>
            <a:ext cx="6885432" cy="569216"/>
          </a:xfrm>
          <a:prstGeom prst="flowChartPrepa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Transmit MAVLink LANDING_TARGET</a:t>
            </a:r>
          </a:p>
          <a:p>
            <a:pPr algn="ctr"/>
            <a:r>
              <a:rPr lang="en-US" dirty="0"/>
              <a:t>message to Pixhawk</a:t>
            </a:r>
          </a:p>
        </p:txBody>
      </p:sp>
      <p:sp>
        <p:nvSpPr>
          <p:cNvPr id="8" name="Flowchart: Preparation 7">
            <a:extLst>
              <a:ext uri="{FF2B5EF4-FFF2-40B4-BE49-F238E27FC236}">
                <a16:creationId xmlns:a16="http://schemas.microsoft.com/office/drawing/2014/main" id="{EB86E178-202C-2D6F-4C94-C489EF8E0018}"/>
              </a:ext>
            </a:extLst>
          </p:cNvPr>
          <p:cNvSpPr/>
          <p:nvPr/>
        </p:nvSpPr>
        <p:spPr>
          <a:xfrm>
            <a:off x="2468880" y="2795780"/>
            <a:ext cx="6876288" cy="317014"/>
          </a:xfrm>
          <a:prstGeom prst="flowChartPrepa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EKF2 fuses vision + IMU data</a:t>
            </a:r>
          </a:p>
        </p:txBody>
      </p:sp>
      <p:sp>
        <p:nvSpPr>
          <p:cNvPr id="9" name="Flowchart: Decision 8">
            <a:extLst>
              <a:ext uri="{FF2B5EF4-FFF2-40B4-BE49-F238E27FC236}">
                <a16:creationId xmlns:a16="http://schemas.microsoft.com/office/drawing/2014/main" id="{702E6405-4408-BF79-2B1C-08DC96EDCA7A}"/>
              </a:ext>
            </a:extLst>
          </p:cNvPr>
          <p:cNvSpPr/>
          <p:nvPr/>
        </p:nvSpPr>
        <p:spPr>
          <a:xfrm>
            <a:off x="2468880" y="3265810"/>
            <a:ext cx="6885432" cy="612653"/>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PID controller generates motor commands</a:t>
            </a:r>
          </a:p>
        </p:txBody>
      </p:sp>
      <p:sp>
        <p:nvSpPr>
          <p:cNvPr id="10" name="Rectangle 9">
            <a:extLst>
              <a:ext uri="{FF2B5EF4-FFF2-40B4-BE49-F238E27FC236}">
                <a16:creationId xmlns:a16="http://schemas.microsoft.com/office/drawing/2014/main" id="{FD0F21F4-EAB7-EA44-4E1E-96B95B527A98}"/>
              </a:ext>
            </a:extLst>
          </p:cNvPr>
          <p:cNvSpPr/>
          <p:nvPr/>
        </p:nvSpPr>
        <p:spPr>
          <a:xfrm>
            <a:off x="2459736" y="4039634"/>
            <a:ext cx="6885432" cy="2926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PWM signals to ESCs</a:t>
            </a:r>
          </a:p>
        </p:txBody>
      </p:sp>
      <p:sp>
        <p:nvSpPr>
          <p:cNvPr id="11" name="Rectangle 10">
            <a:extLst>
              <a:ext uri="{FF2B5EF4-FFF2-40B4-BE49-F238E27FC236}">
                <a16:creationId xmlns:a16="http://schemas.microsoft.com/office/drawing/2014/main" id="{D69A376A-D1FE-331C-9C05-3D9E45F6F8E4}"/>
              </a:ext>
            </a:extLst>
          </p:cNvPr>
          <p:cNvSpPr/>
          <p:nvPr/>
        </p:nvSpPr>
        <p:spPr>
          <a:xfrm>
            <a:off x="2468880" y="4490439"/>
            <a:ext cx="6885432" cy="3264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UAV adjusts position and descends</a:t>
            </a:r>
          </a:p>
        </p:txBody>
      </p:sp>
      <p:sp>
        <p:nvSpPr>
          <p:cNvPr id="12" name="Flowchart: Decision 11">
            <a:extLst>
              <a:ext uri="{FF2B5EF4-FFF2-40B4-BE49-F238E27FC236}">
                <a16:creationId xmlns:a16="http://schemas.microsoft.com/office/drawing/2014/main" id="{5B0A53FB-052E-798F-6795-7A466FE109B2}"/>
              </a:ext>
            </a:extLst>
          </p:cNvPr>
          <p:cNvSpPr/>
          <p:nvPr/>
        </p:nvSpPr>
        <p:spPr>
          <a:xfrm>
            <a:off x="4694859" y="4918184"/>
            <a:ext cx="2532888" cy="710945"/>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Marker</a:t>
            </a:r>
          </a:p>
          <a:p>
            <a:pPr algn="ctr"/>
            <a:r>
              <a:rPr lang="en-US" dirty="0"/>
              <a:t>centered?</a:t>
            </a:r>
          </a:p>
        </p:txBody>
      </p:sp>
      <p:cxnSp>
        <p:nvCxnSpPr>
          <p:cNvPr id="14" name="Straight Arrow Connector 13">
            <a:extLst>
              <a:ext uri="{FF2B5EF4-FFF2-40B4-BE49-F238E27FC236}">
                <a16:creationId xmlns:a16="http://schemas.microsoft.com/office/drawing/2014/main" id="{F5151879-9985-4BF7-C4DA-D1D11A9F125A}"/>
              </a:ext>
            </a:extLst>
          </p:cNvPr>
          <p:cNvCxnSpPr>
            <a:cxnSpLocks/>
            <a:stCxn id="12" idx="3"/>
          </p:cNvCxnSpPr>
          <p:nvPr/>
        </p:nvCxnSpPr>
        <p:spPr>
          <a:xfrm>
            <a:off x="7227747" y="5273657"/>
            <a:ext cx="2148840" cy="171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B49D4CA-8539-A2D1-8ED3-3427C888EC31}"/>
              </a:ext>
            </a:extLst>
          </p:cNvPr>
          <p:cNvCxnSpPr>
            <a:cxnSpLocks/>
            <a:stCxn id="12" idx="1"/>
          </p:cNvCxnSpPr>
          <p:nvPr/>
        </p:nvCxnSpPr>
        <p:spPr>
          <a:xfrm flipH="1" flipV="1">
            <a:off x="3240963" y="5272521"/>
            <a:ext cx="1453896" cy="1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FBCD4FAA-E928-B355-0307-F52E157CA26A}"/>
              </a:ext>
            </a:extLst>
          </p:cNvPr>
          <p:cNvSpPr/>
          <p:nvPr/>
        </p:nvSpPr>
        <p:spPr>
          <a:xfrm>
            <a:off x="9376587" y="5135361"/>
            <a:ext cx="2148840" cy="585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 descent</a:t>
            </a:r>
          </a:p>
        </p:txBody>
      </p:sp>
      <p:sp>
        <p:nvSpPr>
          <p:cNvPr id="20" name="Rectangle 19">
            <a:extLst>
              <a:ext uri="{FF2B5EF4-FFF2-40B4-BE49-F238E27FC236}">
                <a16:creationId xmlns:a16="http://schemas.microsoft.com/office/drawing/2014/main" id="{DDA76854-2C09-1764-3000-6328DBC3127E}"/>
              </a:ext>
            </a:extLst>
          </p:cNvPr>
          <p:cNvSpPr/>
          <p:nvPr/>
        </p:nvSpPr>
        <p:spPr>
          <a:xfrm>
            <a:off x="1192707" y="5025633"/>
            <a:ext cx="2048256" cy="6949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Update position estimate</a:t>
            </a:r>
          </a:p>
        </p:txBody>
      </p:sp>
      <p:sp>
        <p:nvSpPr>
          <p:cNvPr id="21" name="Oval 20">
            <a:extLst>
              <a:ext uri="{FF2B5EF4-FFF2-40B4-BE49-F238E27FC236}">
                <a16:creationId xmlns:a16="http://schemas.microsoft.com/office/drawing/2014/main" id="{13D45080-7ACC-08B7-9368-53E80F1B6232}"/>
              </a:ext>
            </a:extLst>
          </p:cNvPr>
          <p:cNvSpPr/>
          <p:nvPr/>
        </p:nvSpPr>
        <p:spPr>
          <a:xfrm>
            <a:off x="4511979" y="5783210"/>
            <a:ext cx="2898648" cy="7109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Touchdown</a:t>
            </a:r>
          </a:p>
          <a:p>
            <a:pPr algn="ctr"/>
            <a:r>
              <a:rPr lang="en-US" dirty="0"/>
              <a:t>(Precision Landing Complete)</a:t>
            </a:r>
          </a:p>
        </p:txBody>
      </p:sp>
      <p:sp>
        <p:nvSpPr>
          <p:cNvPr id="23" name="Rectangle: Rounded Corners 22">
            <a:extLst>
              <a:ext uri="{FF2B5EF4-FFF2-40B4-BE49-F238E27FC236}">
                <a16:creationId xmlns:a16="http://schemas.microsoft.com/office/drawing/2014/main" id="{455A94EB-D1FF-BD48-FDDA-76E8CBAFA6AA}"/>
              </a:ext>
            </a:extLst>
          </p:cNvPr>
          <p:cNvSpPr/>
          <p:nvPr/>
        </p:nvSpPr>
        <p:spPr>
          <a:xfrm>
            <a:off x="3661587" y="5400537"/>
            <a:ext cx="685800" cy="3154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Yes</a:t>
            </a:r>
          </a:p>
        </p:txBody>
      </p:sp>
      <p:sp>
        <p:nvSpPr>
          <p:cNvPr id="24" name="Rectangle: Rounded Corners 23">
            <a:extLst>
              <a:ext uri="{FF2B5EF4-FFF2-40B4-BE49-F238E27FC236}">
                <a16:creationId xmlns:a16="http://schemas.microsoft.com/office/drawing/2014/main" id="{55BE1C1B-8B98-AA7E-D1A2-ED0BB899905C}"/>
              </a:ext>
            </a:extLst>
          </p:cNvPr>
          <p:cNvSpPr/>
          <p:nvPr/>
        </p:nvSpPr>
        <p:spPr>
          <a:xfrm>
            <a:off x="8133003" y="5429105"/>
            <a:ext cx="786384" cy="310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a:t>
            </a:r>
          </a:p>
        </p:txBody>
      </p:sp>
      <p:cxnSp>
        <p:nvCxnSpPr>
          <p:cNvPr id="25" name="Straight Arrow Connector 24">
            <a:extLst>
              <a:ext uri="{FF2B5EF4-FFF2-40B4-BE49-F238E27FC236}">
                <a16:creationId xmlns:a16="http://schemas.microsoft.com/office/drawing/2014/main" id="{68C5DE0A-12C0-25A8-549F-4E48B2B05CD0}"/>
              </a:ext>
            </a:extLst>
          </p:cNvPr>
          <p:cNvCxnSpPr>
            <a:cxnSpLocks/>
          </p:cNvCxnSpPr>
          <p:nvPr/>
        </p:nvCxnSpPr>
        <p:spPr>
          <a:xfrm>
            <a:off x="5964500" y="4233935"/>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830D26E-FF7E-ECF5-ECF6-EB1B7ED14ACE}"/>
              </a:ext>
            </a:extLst>
          </p:cNvPr>
          <p:cNvCxnSpPr>
            <a:cxnSpLocks/>
          </p:cNvCxnSpPr>
          <p:nvPr/>
        </p:nvCxnSpPr>
        <p:spPr>
          <a:xfrm>
            <a:off x="5961303" y="5472951"/>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86DF47C-3632-C095-0D74-F40D54A38DDF}"/>
              </a:ext>
            </a:extLst>
          </p:cNvPr>
          <p:cNvCxnSpPr>
            <a:cxnSpLocks/>
          </p:cNvCxnSpPr>
          <p:nvPr/>
        </p:nvCxnSpPr>
        <p:spPr>
          <a:xfrm>
            <a:off x="6014207" y="4611863"/>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29EB829-D709-DE77-F63D-5615989CE176}"/>
              </a:ext>
            </a:extLst>
          </p:cNvPr>
          <p:cNvCxnSpPr>
            <a:cxnSpLocks/>
          </p:cNvCxnSpPr>
          <p:nvPr/>
        </p:nvCxnSpPr>
        <p:spPr>
          <a:xfrm>
            <a:off x="6456040" y="3056376"/>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7485428-25FC-1178-4209-936AB5441ED1}"/>
              </a:ext>
            </a:extLst>
          </p:cNvPr>
          <p:cNvCxnSpPr>
            <a:cxnSpLocks/>
          </p:cNvCxnSpPr>
          <p:nvPr/>
        </p:nvCxnSpPr>
        <p:spPr>
          <a:xfrm>
            <a:off x="6384032" y="3703590"/>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534CF99-222C-B478-BED6-0DD88E7E0506}"/>
              </a:ext>
            </a:extLst>
          </p:cNvPr>
          <p:cNvCxnSpPr>
            <a:cxnSpLocks/>
          </p:cNvCxnSpPr>
          <p:nvPr/>
        </p:nvCxnSpPr>
        <p:spPr>
          <a:xfrm>
            <a:off x="7470648" y="1823084"/>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8D1474E-7A7F-FA33-7D80-48910A797DB9}"/>
              </a:ext>
            </a:extLst>
          </p:cNvPr>
          <p:cNvCxnSpPr>
            <a:cxnSpLocks/>
          </p:cNvCxnSpPr>
          <p:nvPr/>
        </p:nvCxnSpPr>
        <p:spPr>
          <a:xfrm>
            <a:off x="6717792" y="2459736"/>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6C35602-6E92-50C3-39D4-4BF3AF1AB112}"/>
              </a:ext>
            </a:extLst>
          </p:cNvPr>
          <p:cNvCxnSpPr>
            <a:cxnSpLocks/>
          </p:cNvCxnSpPr>
          <p:nvPr/>
        </p:nvCxnSpPr>
        <p:spPr>
          <a:xfrm>
            <a:off x="6717792" y="1359030"/>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F18195E-EC20-BACD-3C3C-BE9975F133A0}"/>
              </a:ext>
            </a:extLst>
          </p:cNvPr>
          <p:cNvCxnSpPr>
            <a:cxnSpLocks/>
          </p:cNvCxnSpPr>
          <p:nvPr/>
        </p:nvCxnSpPr>
        <p:spPr>
          <a:xfrm>
            <a:off x="7187184" y="800101"/>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13A934A-876F-C380-7409-221325F9E8C5}"/>
              </a:ext>
            </a:extLst>
          </p:cNvPr>
          <p:cNvCxnSpPr>
            <a:cxnSpLocks/>
          </p:cNvCxnSpPr>
          <p:nvPr/>
        </p:nvCxnSpPr>
        <p:spPr>
          <a:xfrm>
            <a:off x="5303912" y="324610"/>
            <a:ext cx="0" cy="33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Date Placeholder 17">
            <a:extLst>
              <a:ext uri="{FF2B5EF4-FFF2-40B4-BE49-F238E27FC236}">
                <a16:creationId xmlns:a16="http://schemas.microsoft.com/office/drawing/2014/main" id="{1ADAFDF4-9959-D272-90FD-43782B125126}"/>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18" name="Footer Placeholder 18">
            <a:extLst>
              <a:ext uri="{FF2B5EF4-FFF2-40B4-BE49-F238E27FC236}">
                <a16:creationId xmlns:a16="http://schemas.microsoft.com/office/drawing/2014/main" id="{5329C0A4-DE00-F01F-3573-8D9C0111C562}"/>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22" name="Slide Number Placeholder 19">
            <a:extLst>
              <a:ext uri="{FF2B5EF4-FFF2-40B4-BE49-F238E27FC236}">
                <a16:creationId xmlns:a16="http://schemas.microsoft.com/office/drawing/2014/main" id="{531B3DA4-AD9A-85ED-AE43-AF9E2FD2DA7F}"/>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11</a:t>
            </a:fld>
            <a:endParaRPr lang="en-IN" sz="1200" b="1" dirty="0">
              <a:solidFill>
                <a:schemeClr val="accent1">
                  <a:lumMod val="75000"/>
                </a:schemeClr>
              </a:solidFill>
              <a:latin typeface="+mj-lt"/>
            </a:endParaRPr>
          </a:p>
        </p:txBody>
      </p:sp>
      <p:sp>
        <p:nvSpPr>
          <p:cNvPr id="32" name="object 8">
            <a:extLst>
              <a:ext uri="{FF2B5EF4-FFF2-40B4-BE49-F238E27FC236}">
                <a16:creationId xmlns:a16="http://schemas.microsoft.com/office/drawing/2014/main" id="{009C9A29-1A45-B61C-8E9A-414D62D4B69E}"/>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1219338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1430446"/>
          </a:xfrm>
          <a:prstGeom prst="rect">
            <a:avLst/>
          </a:prstGeom>
        </p:spPr>
      </p:pic>
      <p:sp>
        <p:nvSpPr>
          <p:cNvPr id="3" name="object 3" descr="$PPTXTitle"/>
          <p:cNvSpPr txBox="1">
            <a:spLocks noGrp="1"/>
          </p:cNvSpPr>
          <p:nvPr>
            <p:ph type="title"/>
          </p:nvPr>
        </p:nvSpPr>
        <p:spPr>
          <a:prstGeom prst="rect">
            <a:avLst/>
          </a:prstGeom>
        </p:spPr>
        <p:txBody>
          <a:bodyPr vert="horz" wrap="square" lIns="0" tIns="350883" rIns="0" bIns="0" rtlCol="0">
            <a:spAutoFit/>
          </a:bodyPr>
          <a:lstStyle/>
          <a:p>
            <a:pPr marL="12700">
              <a:lnSpc>
                <a:spcPct val="100000"/>
              </a:lnSpc>
              <a:spcBef>
                <a:spcPts val="100"/>
              </a:spcBef>
            </a:pPr>
            <a:r>
              <a:rPr spc="-55" dirty="0"/>
              <a:t>HARDWARE</a:t>
            </a:r>
            <a:r>
              <a:rPr spc="-135" dirty="0"/>
              <a:t> </a:t>
            </a:r>
            <a:r>
              <a:rPr dirty="0"/>
              <a:t>AND</a:t>
            </a:r>
            <a:r>
              <a:rPr spc="-75" dirty="0"/>
              <a:t> </a:t>
            </a:r>
            <a:r>
              <a:rPr spc="-30" dirty="0"/>
              <a:t>SOFTWARE</a:t>
            </a:r>
            <a:r>
              <a:rPr spc="-40" dirty="0"/>
              <a:t> </a:t>
            </a:r>
            <a:r>
              <a:rPr spc="-10" dirty="0"/>
              <a:t>REQUIREMENTS</a:t>
            </a:r>
          </a:p>
        </p:txBody>
      </p:sp>
      <p:sp>
        <p:nvSpPr>
          <p:cNvPr id="4" name="object 4"/>
          <p:cNvSpPr txBox="1"/>
          <p:nvPr/>
        </p:nvSpPr>
        <p:spPr>
          <a:xfrm>
            <a:off x="681729" y="2083353"/>
            <a:ext cx="3595370" cy="3253455"/>
          </a:xfrm>
          <a:prstGeom prst="rect">
            <a:avLst/>
          </a:prstGeom>
        </p:spPr>
        <p:txBody>
          <a:bodyPr vert="horz" wrap="square" lIns="0" tIns="204470" rIns="0" bIns="0" rtlCol="0">
            <a:spAutoFit/>
          </a:bodyPr>
          <a:lstStyle/>
          <a:p>
            <a:pPr algn="l"/>
            <a:r>
              <a:rPr lang="en-US" sz="1800" b="1" dirty="0"/>
              <a:t>Hardware</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Pixhawk 2.4.8 Flight Controller</a:t>
            </a:r>
          </a:p>
          <a:p>
            <a:pPr marL="285750" indent="-285750" algn="l">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OpenMV</a:t>
            </a:r>
            <a:r>
              <a:rPr lang="en-US" dirty="0">
                <a:latin typeface="Times New Roman" panose="02020603050405020304" pitchFamily="18" charset="0"/>
                <a:cs typeface="Times New Roman" panose="02020603050405020304" pitchFamily="18" charset="0"/>
              </a:rPr>
              <a:t> H7 Camera</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A2212 1000KV Brushless Motors</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S500 Quadcopter Frame</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Electronic Speed Controllers (ESCs)</a:t>
            </a:r>
          </a:p>
          <a:p>
            <a:pPr marL="285750" indent="-285750" algn="l">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FlySky</a:t>
            </a:r>
            <a:r>
              <a:rPr lang="en-US" dirty="0">
                <a:latin typeface="Times New Roman" panose="02020603050405020304" pitchFamily="18" charset="0"/>
                <a:cs typeface="Times New Roman" panose="02020603050405020304" pitchFamily="18" charset="0"/>
              </a:rPr>
              <a:t> FS-i6 Transmitter/Receiver</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3S LiPo Battery 5200mAh</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GPS M8N Module with Compass</a:t>
            </a: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433MHz Telemetry Radio</a:t>
            </a:r>
          </a:p>
        </p:txBody>
      </p:sp>
      <p:sp>
        <p:nvSpPr>
          <p:cNvPr id="5" name="object 5"/>
          <p:cNvSpPr txBox="1"/>
          <p:nvPr/>
        </p:nvSpPr>
        <p:spPr>
          <a:xfrm>
            <a:off x="6312094" y="2331501"/>
            <a:ext cx="1186180" cy="391160"/>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Times New Roman"/>
                <a:cs typeface="Times New Roman"/>
              </a:rPr>
              <a:t>Software</a:t>
            </a:r>
            <a:endParaRPr sz="2400">
              <a:latin typeface="Times New Roman"/>
              <a:cs typeface="Times New Roman"/>
            </a:endParaRPr>
          </a:p>
        </p:txBody>
      </p:sp>
      <p:sp>
        <p:nvSpPr>
          <p:cNvPr id="10" name="object 10"/>
          <p:cNvSpPr txBox="1"/>
          <p:nvPr/>
        </p:nvSpPr>
        <p:spPr>
          <a:xfrm>
            <a:off x="6251448" y="2781189"/>
            <a:ext cx="3595370" cy="1682512"/>
          </a:xfrm>
          <a:prstGeom prst="rect">
            <a:avLst/>
          </a:prstGeom>
        </p:spPr>
        <p:txBody>
          <a:bodyPr vert="horz" wrap="square" lIns="0" tIns="149860" rIns="0" bIns="0" rtlCol="0">
            <a:spAutoFit/>
          </a:bodyPr>
          <a:lstStyle/>
          <a:p>
            <a:pPr marL="298450" indent="-285750">
              <a:lnSpc>
                <a:spcPct val="100000"/>
              </a:lnSpc>
              <a:spcBef>
                <a:spcPts val="1180"/>
              </a:spcBef>
              <a:buFont typeface="Arial" panose="020B0604020202020204" pitchFamily="34" charset="0"/>
              <a:buChar char="•"/>
              <a:tabLst>
                <a:tab pos="320675" algn="l"/>
              </a:tabLst>
            </a:pPr>
            <a:r>
              <a:rPr sz="1800" spc="-10" dirty="0">
                <a:latin typeface="Times New Roman"/>
                <a:cs typeface="Times New Roman"/>
              </a:rPr>
              <a:t>ArduCopter Firmware</a:t>
            </a:r>
            <a:endParaRPr sz="1800" dirty="0">
              <a:latin typeface="Times New Roman"/>
              <a:cs typeface="Times New Roman"/>
            </a:endParaRPr>
          </a:p>
          <a:p>
            <a:pPr marL="298450" indent="-285750">
              <a:lnSpc>
                <a:spcPct val="100000"/>
              </a:lnSpc>
              <a:spcBef>
                <a:spcPts val="1080"/>
              </a:spcBef>
              <a:buFont typeface="Arial" panose="020B0604020202020204" pitchFamily="34" charset="0"/>
              <a:buChar char="•"/>
              <a:tabLst>
                <a:tab pos="320675" algn="l"/>
              </a:tabLst>
            </a:pPr>
            <a:r>
              <a:rPr sz="1800" spc="-10" dirty="0" err="1">
                <a:latin typeface="Times New Roman"/>
                <a:cs typeface="Times New Roman"/>
              </a:rPr>
              <a:t>MicroPython</a:t>
            </a:r>
            <a:r>
              <a:rPr sz="1800" spc="-10" dirty="0">
                <a:latin typeface="Times New Roman"/>
                <a:cs typeface="Times New Roman"/>
              </a:rPr>
              <a:t> (OpenMV)</a:t>
            </a:r>
            <a:endParaRPr sz="1800" dirty="0">
              <a:latin typeface="Times New Roman"/>
              <a:cs typeface="Times New Roman"/>
            </a:endParaRPr>
          </a:p>
          <a:p>
            <a:pPr marL="298450" indent="-285750">
              <a:lnSpc>
                <a:spcPct val="100000"/>
              </a:lnSpc>
              <a:spcBef>
                <a:spcPts val="1080"/>
              </a:spcBef>
              <a:buFont typeface="Arial" panose="020B0604020202020204" pitchFamily="34" charset="0"/>
              <a:buChar char="•"/>
              <a:tabLst>
                <a:tab pos="320675" algn="l"/>
              </a:tabLst>
            </a:pPr>
            <a:r>
              <a:rPr sz="1800" spc="-25" dirty="0">
                <a:latin typeface="Times New Roman"/>
                <a:cs typeface="Times New Roman"/>
              </a:rPr>
              <a:t>MAVLink Protocol</a:t>
            </a:r>
            <a:endParaRPr sz="1800" dirty="0">
              <a:latin typeface="Times New Roman"/>
              <a:cs typeface="Times New Roman"/>
            </a:endParaRPr>
          </a:p>
          <a:p>
            <a:pPr marL="298450" indent="-285750">
              <a:lnSpc>
                <a:spcPct val="100000"/>
              </a:lnSpc>
              <a:spcBef>
                <a:spcPts val="1080"/>
              </a:spcBef>
              <a:buFont typeface="Arial" panose="020B0604020202020204" pitchFamily="34" charset="0"/>
              <a:buChar char="•"/>
              <a:tabLst>
                <a:tab pos="320675" algn="l"/>
              </a:tabLst>
            </a:pPr>
            <a:r>
              <a:rPr sz="1800" spc="-10" dirty="0" err="1">
                <a:latin typeface="Times New Roman"/>
                <a:cs typeface="Times New Roman"/>
              </a:rPr>
              <a:t>AprilTag</a:t>
            </a:r>
            <a:r>
              <a:rPr sz="1800" spc="-10" dirty="0">
                <a:latin typeface="Times New Roman"/>
                <a:cs typeface="Times New Roman"/>
              </a:rPr>
              <a:t> Library</a:t>
            </a:r>
            <a:endParaRPr sz="1800" dirty="0">
              <a:latin typeface="Times New Roman"/>
              <a:cs typeface="Times New Roman"/>
            </a:endParaRPr>
          </a:p>
        </p:txBody>
      </p:sp>
      <p:sp>
        <p:nvSpPr>
          <p:cNvPr id="6" name="Date Placeholder 17">
            <a:extLst>
              <a:ext uri="{FF2B5EF4-FFF2-40B4-BE49-F238E27FC236}">
                <a16:creationId xmlns:a16="http://schemas.microsoft.com/office/drawing/2014/main" id="{F76978A8-28D7-F1A6-E6F3-EFA063FF4301}"/>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7" name="Footer Placeholder 18">
            <a:extLst>
              <a:ext uri="{FF2B5EF4-FFF2-40B4-BE49-F238E27FC236}">
                <a16:creationId xmlns:a16="http://schemas.microsoft.com/office/drawing/2014/main" id="{5731CE1A-47EF-DC21-B577-8206980F3FE1}"/>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8" name="Slide Number Placeholder 19">
            <a:extLst>
              <a:ext uri="{FF2B5EF4-FFF2-40B4-BE49-F238E27FC236}">
                <a16:creationId xmlns:a16="http://schemas.microsoft.com/office/drawing/2014/main" id="{2AC49D4A-F538-6D52-8D67-E62B75789816}"/>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12</a:t>
            </a:fld>
            <a:endParaRPr lang="en-IN" sz="1200" b="1" dirty="0">
              <a:solidFill>
                <a:schemeClr val="accent1">
                  <a:lumMod val="75000"/>
                </a:schemeClr>
              </a:solidFill>
              <a:latin typeface="+mj-lt"/>
            </a:endParaRPr>
          </a:p>
        </p:txBody>
      </p:sp>
      <p:sp>
        <p:nvSpPr>
          <p:cNvPr id="9" name="object 8">
            <a:extLst>
              <a:ext uri="{FF2B5EF4-FFF2-40B4-BE49-F238E27FC236}">
                <a16:creationId xmlns:a16="http://schemas.microsoft.com/office/drawing/2014/main" id="{74F91D54-B5AC-0F19-6E0D-DCE1A22EE490}"/>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34743" y="1193415"/>
            <a:ext cx="3121025" cy="391160"/>
          </a:xfrm>
          <a:prstGeom prst="rect">
            <a:avLst/>
          </a:prstGeom>
        </p:spPr>
        <p:txBody>
          <a:bodyPr vert="horz" wrap="square" lIns="0" tIns="12700" rIns="0" bIns="0" rtlCol="0">
            <a:spAutoFit/>
          </a:bodyPr>
          <a:lstStyle/>
          <a:p>
            <a:pPr marL="12700">
              <a:lnSpc>
                <a:spcPct val="100000"/>
              </a:lnSpc>
              <a:spcBef>
                <a:spcPts val="100"/>
              </a:spcBef>
            </a:pPr>
            <a:r>
              <a:rPr spc="-10" dirty="0"/>
              <a:t>EXPECTED</a:t>
            </a:r>
            <a:r>
              <a:rPr spc="-95" dirty="0"/>
              <a:t> </a:t>
            </a:r>
            <a:r>
              <a:rPr spc="-10" dirty="0"/>
              <a:t>RESULTS</a:t>
            </a:r>
          </a:p>
        </p:txBody>
      </p:sp>
      <p:pic>
        <p:nvPicPr>
          <p:cNvPr id="3" name="object 3"/>
          <p:cNvPicPr/>
          <p:nvPr/>
        </p:nvPicPr>
        <p:blipFill>
          <a:blip r:embed="rId2" cstate="print"/>
          <a:stretch>
            <a:fillRect/>
          </a:stretch>
        </p:blipFill>
        <p:spPr>
          <a:xfrm>
            <a:off x="0" y="1"/>
            <a:ext cx="12191999" cy="1159799"/>
          </a:xfrm>
          <a:prstGeom prst="rect">
            <a:avLst/>
          </a:prstGeom>
        </p:spPr>
      </p:pic>
      <p:sp>
        <p:nvSpPr>
          <p:cNvPr id="8" name="object 8"/>
          <p:cNvSpPr txBox="1"/>
          <p:nvPr/>
        </p:nvSpPr>
        <p:spPr>
          <a:xfrm>
            <a:off x="706984" y="1916832"/>
            <a:ext cx="8341343" cy="1813317"/>
          </a:xfrm>
          <a:prstGeom prst="rect">
            <a:avLst/>
          </a:prstGeom>
        </p:spPr>
        <p:txBody>
          <a:bodyPr vert="horz" wrap="square" lIns="0" tIns="149860" rIns="0" bIns="0" rtlCol="0">
            <a:spAutoFit/>
          </a:bodyPr>
          <a:lstStyle/>
          <a:p>
            <a:pPr marL="28575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Mean landing deviation of less than 12 cm across environments</a:t>
            </a:r>
          </a:p>
          <a:p>
            <a:pPr marL="28575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Reliable </a:t>
            </a:r>
            <a:r>
              <a:rPr lang="en-US" sz="1800" dirty="0" err="1">
                <a:latin typeface="Times New Roman" panose="02020603050405020304" pitchFamily="18" charset="0"/>
                <a:cs typeface="Times New Roman" panose="02020603050405020304" pitchFamily="18" charset="0"/>
              </a:rPr>
              <a:t>AprilTag</a:t>
            </a:r>
            <a:r>
              <a:rPr lang="en-US" sz="1800" dirty="0">
                <a:latin typeface="Times New Roman" panose="02020603050405020304" pitchFamily="18" charset="0"/>
                <a:cs typeface="Times New Roman" panose="02020603050405020304" pitchFamily="18" charset="0"/>
              </a:rPr>
              <a:t> detection at 40-400 cm range</a:t>
            </a:r>
          </a:p>
          <a:p>
            <a:pPr marL="28575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Stable precision landing in GPS-denied indoor environments</a:t>
            </a:r>
          </a:p>
          <a:p>
            <a:pPr marL="28575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Successful </a:t>
            </a:r>
            <a:r>
              <a:rPr lang="en-US" sz="1800" dirty="0" err="1">
                <a:latin typeface="Times New Roman" panose="02020603050405020304" pitchFamily="18" charset="0"/>
                <a:cs typeface="Times New Roman" panose="02020603050405020304" pitchFamily="18" charset="0"/>
              </a:rPr>
              <a:t>MAVLink</a:t>
            </a:r>
            <a:r>
              <a:rPr lang="en-US" sz="1800" dirty="0">
                <a:latin typeface="Times New Roman" panose="02020603050405020304" pitchFamily="18" charset="0"/>
                <a:cs typeface="Times New Roman" panose="02020603050405020304" pitchFamily="18" charset="0"/>
              </a:rPr>
              <a:t> integration at 30 fps update rate</a:t>
            </a:r>
          </a:p>
          <a:p>
            <a:pPr marL="28575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All failsafe protocols validated and operational</a:t>
            </a:r>
          </a:p>
          <a:p>
            <a:pPr marL="28575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PID-</a:t>
            </a:r>
            <a:r>
              <a:rPr lang="en-US" sz="1800" dirty="0" err="1">
                <a:latin typeface="Times New Roman" panose="02020603050405020304" pitchFamily="18" charset="0"/>
                <a:cs typeface="Times New Roman" panose="02020603050405020304" pitchFamily="18" charset="0"/>
              </a:rPr>
              <a:t>stabilised</a:t>
            </a:r>
            <a:r>
              <a:rPr lang="en-US" sz="1800" dirty="0">
                <a:latin typeface="Times New Roman" panose="02020603050405020304" pitchFamily="18" charset="0"/>
                <a:cs typeface="Times New Roman" panose="02020603050405020304" pitchFamily="18" charset="0"/>
              </a:rPr>
              <a:t> closed-loop descent confirmed</a:t>
            </a:r>
          </a:p>
        </p:txBody>
      </p:sp>
      <p:sp>
        <p:nvSpPr>
          <p:cNvPr id="4" name="Date Placeholder 17">
            <a:extLst>
              <a:ext uri="{FF2B5EF4-FFF2-40B4-BE49-F238E27FC236}">
                <a16:creationId xmlns:a16="http://schemas.microsoft.com/office/drawing/2014/main" id="{8E4923D5-E359-7786-18B4-CE59D6CD3C89}"/>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5" name="Footer Placeholder 18">
            <a:extLst>
              <a:ext uri="{FF2B5EF4-FFF2-40B4-BE49-F238E27FC236}">
                <a16:creationId xmlns:a16="http://schemas.microsoft.com/office/drawing/2014/main" id="{07F28880-C51A-8202-35DA-F92C351EF278}"/>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6" name="Slide Number Placeholder 19">
            <a:extLst>
              <a:ext uri="{FF2B5EF4-FFF2-40B4-BE49-F238E27FC236}">
                <a16:creationId xmlns:a16="http://schemas.microsoft.com/office/drawing/2014/main" id="{9EE21CED-37D8-BE66-1EEF-1E78F0D500B6}"/>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13</a:t>
            </a:fld>
            <a:endParaRPr lang="en-IN" sz="1200" b="1" dirty="0">
              <a:solidFill>
                <a:schemeClr val="accent1">
                  <a:lumMod val="75000"/>
                </a:schemeClr>
              </a:solidFill>
              <a:latin typeface="+mj-lt"/>
            </a:endParaRPr>
          </a:p>
        </p:txBody>
      </p:sp>
      <p:sp>
        <p:nvSpPr>
          <p:cNvPr id="7" name="object 8">
            <a:extLst>
              <a:ext uri="{FF2B5EF4-FFF2-40B4-BE49-F238E27FC236}">
                <a16:creationId xmlns:a16="http://schemas.microsoft.com/office/drawing/2014/main" id="{0EAE3642-0748-828E-A85B-36D7DDF76C11}"/>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1243861"/>
          </a:xfrm>
          <a:prstGeom prst="rect">
            <a:avLst/>
          </a:prstGeom>
        </p:spPr>
      </p:pic>
      <p:sp>
        <p:nvSpPr>
          <p:cNvPr id="3" name="object 3" descr="$PPTXTitle"/>
          <p:cNvSpPr txBox="1">
            <a:spLocks noGrp="1"/>
          </p:cNvSpPr>
          <p:nvPr>
            <p:ph type="title"/>
          </p:nvPr>
        </p:nvSpPr>
        <p:spPr>
          <a:xfrm>
            <a:off x="3809984" y="1428736"/>
            <a:ext cx="4834255" cy="391160"/>
          </a:xfrm>
          <a:prstGeom prst="rect">
            <a:avLst/>
          </a:prstGeom>
        </p:spPr>
        <p:txBody>
          <a:bodyPr vert="horz" wrap="square" lIns="0" tIns="12700" rIns="0" bIns="0" rtlCol="0">
            <a:spAutoFit/>
          </a:bodyPr>
          <a:lstStyle/>
          <a:p>
            <a:pPr marL="12700">
              <a:lnSpc>
                <a:spcPct val="100000"/>
              </a:lnSpc>
              <a:spcBef>
                <a:spcPts val="100"/>
              </a:spcBef>
            </a:pPr>
            <a:r>
              <a:rPr spc="-30" dirty="0"/>
              <a:t>APPLICATION </a:t>
            </a:r>
            <a:r>
              <a:rPr dirty="0"/>
              <a:t>OF</a:t>
            </a:r>
            <a:r>
              <a:rPr spc="-150" dirty="0"/>
              <a:t> </a:t>
            </a:r>
            <a:r>
              <a:rPr dirty="0"/>
              <a:t>THE</a:t>
            </a:r>
            <a:r>
              <a:rPr spc="-30" dirty="0"/>
              <a:t> </a:t>
            </a:r>
            <a:r>
              <a:rPr spc="-10" dirty="0"/>
              <a:t>PROJECT</a:t>
            </a:r>
          </a:p>
        </p:txBody>
      </p:sp>
      <p:sp>
        <p:nvSpPr>
          <p:cNvPr id="8" name="object 8"/>
          <p:cNvSpPr txBox="1"/>
          <p:nvPr/>
        </p:nvSpPr>
        <p:spPr>
          <a:xfrm>
            <a:off x="666712" y="2428868"/>
            <a:ext cx="9555480" cy="1397819"/>
          </a:xfrm>
          <a:prstGeom prst="rect">
            <a:avLst/>
          </a:prstGeom>
        </p:spPr>
        <p:txBody>
          <a:bodyPr vert="horz" wrap="square" lIns="0" tIns="12700" rIns="0" bIns="0" rtlCol="0">
            <a:spAutoFit/>
          </a:bodyPr>
          <a:lstStyle/>
          <a:p>
            <a:pPr marL="285750" indent="-285750" algn="l">
              <a:buFont typeface="Arial" panose="020B0604020202020204" pitchFamily="34" charset="0"/>
              <a:buChar char="•"/>
            </a:pPr>
            <a:r>
              <a:rPr lang="en-US" sz="1800" dirty="0"/>
              <a:t>Precision delivery of medical supplies and commercial packages to confined landing pads.</a:t>
            </a:r>
          </a:p>
          <a:p>
            <a:pPr marL="285750" indent="-285750" algn="l">
              <a:buFont typeface="Arial" panose="020B0604020202020204" pitchFamily="34" charset="0"/>
              <a:buChar char="•"/>
            </a:pPr>
            <a:r>
              <a:rPr lang="en-US" sz="1800" dirty="0"/>
              <a:t>Infrastructure inspection on narrow platforms atop wind turbines and transmission towers.</a:t>
            </a:r>
          </a:p>
          <a:p>
            <a:pPr marL="285750" indent="-285750" algn="l">
              <a:buFont typeface="Arial" panose="020B0604020202020204" pitchFamily="34" charset="0"/>
              <a:buChar char="•"/>
            </a:pPr>
            <a:r>
              <a:rPr lang="en-US" sz="1800" dirty="0"/>
              <a:t>Post-disaster search-and-rescue operations in GPS-degraded environments.</a:t>
            </a:r>
          </a:p>
          <a:p>
            <a:pPr marL="285750" indent="-285750" algn="l">
              <a:buFont typeface="Arial" panose="020B0604020202020204" pitchFamily="34" charset="0"/>
              <a:buChar char="•"/>
            </a:pPr>
            <a:r>
              <a:rPr lang="en-US" sz="1800" dirty="0"/>
              <a:t>Autonomous landing in warehouses, underground facilities, and urban canyon environments.</a:t>
            </a:r>
          </a:p>
        </p:txBody>
      </p:sp>
      <p:sp>
        <p:nvSpPr>
          <p:cNvPr id="4" name="Date Placeholder 17">
            <a:extLst>
              <a:ext uri="{FF2B5EF4-FFF2-40B4-BE49-F238E27FC236}">
                <a16:creationId xmlns:a16="http://schemas.microsoft.com/office/drawing/2014/main" id="{54764B85-319A-C3CC-815C-68372A6C3B89}"/>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5" name="Footer Placeholder 18">
            <a:extLst>
              <a:ext uri="{FF2B5EF4-FFF2-40B4-BE49-F238E27FC236}">
                <a16:creationId xmlns:a16="http://schemas.microsoft.com/office/drawing/2014/main" id="{66C295FE-F249-5037-86ED-99D9327B2C5C}"/>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6" name="Slide Number Placeholder 19">
            <a:extLst>
              <a:ext uri="{FF2B5EF4-FFF2-40B4-BE49-F238E27FC236}">
                <a16:creationId xmlns:a16="http://schemas.microsoft.com/office/drawing/2014/main" id="{61C48306-C23B-B3FD-F274-E996D9124C1D}"/>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14</a:t>
            </a:fld>
            <a:endParaRPr lang="en-IN" sz="1200" b="1" dirty="0">
              <a:solidFill>
                <a:schemeClr val="accent1">
                  <a:lumMod val="75000"/>
                </a:schemeClr>
              </a:solidFill>
              <a:latin typeface="+mj-lt"/>
            </a:endParaRPr>
          </a:p>
        </p:txBody>
      </p:sp>
      <p:sp>
        <p:nvSpPr>
          <p:cNvPr id="7" name="object 8">
            <a:extLst>
              <a:ext uri="{FF2B5EF4-FFF2-40B4-BE49-F238E27FC236}">
                <a16:creationId xmlns:a16="http://schemas.microsoft.com/office/drawing/2014/main" id="{FF866BB8-F5A8-62B9-0B0C-17010F7F91C0}"/>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122420" y="1550067"/>
            <a:ext cx="3947160" cy="391160"/>
          </a:xfrm>
          <a:prstGeom prst="rect">
            <a:avLst/>
          </a:prstGeom>
        </p:spPr>
        <p:txBody>
          <a:bodyPr vert="horz" wrap="square" lIns="0" tIns="12700" rIns="0" bIns="0" rtlCol="0">
            <a:spAutoFit/>
          </a:bodyPr>
          <a:lstStyle/>
          <a:p>
            <a:pPr marL="12700">
              <a:lnSpc>
                <a:spcPct val="100000"/>
              </a:lnSpc>
              <a:spcBef>
                <a:spcPts val="100"/>
              </a:spcBef>
            </a:pPr>
            <a:r>
              <a:rPr spc="-100" dirty="0"/>
              <a:t> </a:t>
            </a:r>
            <a:r>
              <a:rPr spc="-20" dirty="0"/>
              <a:t>PAPER</a:t>
            </a:r>
            <a:r>
              <a:rPr spc="-95" dirty="0"/>
              <a:t> </a:t>
            </a:r>
            <a:r>
              <a:rPr spc="-10" dirty="0"/>
              <a:t>REFERENCES</a:t>
            </a:r>
          </a:p>
        </p:txBody>
      </p:sp>
      <p:pic>
        <p:nvPicPr>
          <p:cNvPr id="3" name="object 3"/>
          <p:cNvPicPr/>
          <p:nvPr/>
        </p:nvPicPr>
        <p:blipFill>
          <a:blip r:embed="rId2" cstate="print"/>
          <a:stretch>
            <a:fillRect/>
          </a:stretch>
        </p:blipFill>
        <p:spPr>
          <a:xfrm>
            <a:off x="0" y="0"/>
            <a:ext cx="12192000" cy="1430446"/>
          </a:xfrm>
          <a:prstGeom prst="rect">
            <a:avLst/>
          </a:prstGeom>
        </p:spPr>
      </p:pic>
      <p:sp>
        <p:nvSpPr>
          <p:cNvPr id="8" name="object 8"/>
          <p:cNvSpPr txBox="1"/>
          <p:nvPr/>
        </p:nvSpPr>
        <p:spPr>
          <a:xfrm>
            <a:off x="751859" y="2060848"/>
            <a:ext cx="10715700" cy="2553904"/>
          </a:xfrm>
          <a:prstGeom prst="rect">
            <a:avLst/>
          </a:prstGeom>
        </p:spPr>
        <p:txBody>
          <a:bodyPr vert="horz" wrap="square" lIns="0" tIns="12700" rIns="0" bIns="0" rtlCol="0">
            <a:spAutoFit/>
          </a:bodyPr>
          <a:lstStyle/>
          <a:p>
            <a:pPr marL="0" indent="0">
              <a:buNone/>
            </a:pPr>
            <a:r>
              <a:rPr lang="en-IN" sz="1600" dirty="0">
                <a:latin typeface="Times New Roman" panose="02020603050405020304" pitchFamily="18" charset="0"/>
                <a:cs typeface="Times New Roman" panose="02020603050405020304" pitchFamily="18" charset="0"/>
              </a:rPr>
              <a:t>[1] Rizqy Ilmi Naufal, Nyoman Karna, and Soo Young Shin,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“Vision-Based Autonomous Landing System for Quadcopter Drone Using </a:t>
            </a:r>
            <a:r>
              <a:rPr lang="en-IN" sz="1600" dirty="0" err="1">
                <a:latin typeface="Times New Roman" panose="02020603050405020304" pitchFamily="18" charset="0"/>
                <a:cs typeface="Times New Roman" panose="02020603050405020304" pitchFamily="18" charset="0"/>
              </a:rPr>
              <a:t>OpenMV</a:t>
            </a: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2022 13th International Conference on Information and Communication Technology Convergence (ICTC), IEEE, 2022.</a:t>
            </a:r>
          </a:p>
          <a:p>
            <a:pPr marL="0" indent="0">
              <a:buNone/>
            </a:pPr>
            <a:r>
              <a:rPr lang="en-IN" sz="1600" dirty="0">
                <a:latin typeface="Times New Roman" panose="02020603050405020304" pitchFamily="18" charset="0"/>
                <a:cs typeface="Times New Roman" panose="02020603050405020304" pitchFamily="18" charset="0"/>
              </a:rPr>
              <a:t>[2] Meng Xu, “Visual Recognition-Assisted Precision Landing for UAVs in GPS-Degraded Environments: Approach Guidance, Backup End-Phase Recognition, and Post-Landing Verification,”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2025 International Conference on Aerospace Information Perception and Intelligent Processing (AIPIP), IEEE, 2025.</a:t>
            </a:r>
          </a:p>
          <a:p>
            <a:pPr marL="0" indent="0">
              <a:buNone/>
            </a:pPr>
            <a:r>
              <a:rPr lang="en-IN" sz="1600" dirty="0">
                <a:latin typeface="Times New Roman" panose="02020603050405020304" pitchFamily="18" charset="0"/>
                <a:cs typeface="Times New Roman" panose="02020603050405020304" pitchFamily="18" charset="0"/>
              </a:rPr>
              <a:t>[3] Jaewan Choi and Younghoon Choi,</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“Path Planning for Unmanned Aerial Vehicle: A-Star-Guided Potential Field Method,”</a:t>
            </a:r>
            <a:br>
              <a:rPr lang="en-IN" sz="1600" dirty="0">
                <a:latin typeface="Times New Roman" panose="02020603050405020304" pitchFamily="18" charset="0"/>
                <a:cs typeface="Times New Roman" panose="02020603050405020304" pitchFamily="18" charset="0"/>
              </a:rPr>
            </a:br>
            <a:r>
              <a:rPr lang="en-IN" sz="1600" i="1" dirty="0">
                <a:latin typeface="Times New Roman" panose="02020603050405020304" pitchFamily="18" charset="0"/>
                <a:cs typeface="Times New Roman" panose="02020603050405020304" pitchFamily="18" charset="0"/>
              </a:rPr>
              <a:t>Drones</a:t>
            </a:r>
            <a:r>
              <a:rPr lang="en-IN" sz="1600" dirty="0">
                <a:latin typeface="Times New Roman" panose="02020603050405020304" pitchFamily="18" charset="0"/>
                <a:cs typeface="Times New Roman" panose="02020603050405020304" pitchFamily="18" charset="0"/>
              </a:rPr>
              <a:t>, vol. 9, MDPI, 2025.</a:t>
            </a:r>
          </a:p>
          <a:p>
            <a:pPr marL="0" marR="0" indent="0" algn="just">
              <a:lnSpc>
                <a:spcPct val="150000"/>
              </a:lnSpc>
              <a:spcBef>
                <a:spcPts val="0"/>
              </a:spcBef>
              <a:buNone/>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17">
            <a:extLst>
              <a:ext uri="{FF2B5EF4-FFF2-40B4-BE49-F238E27FC236}">
                <a16:creationId xmlns:a16="http://schemas.microsoft.com/office/drawing/2014/main" id="{81709250-BEFD-6F0B-FFB2-DE08DA1EFFA6}"/>
              </a:ext>
            </a:extLst>
          </p:cNvPr>
          <p:cNvSpPr>
            <a:spLocks noGrp="1"/>
          </p:cNvSpPr>
          <p:nvPr>
            <p:ph type="dt" sz="half" idx="6"/>
          </p:nvPr>
        </p:nvSpPr>
        <p:spPr>
          <a:xfrm>
            <a:off x="310412" y="6554699"/>
            <a:ext cx="2804160" cy="184666"/>
          </a:xfrm>
        </p:spPr>
        <p:txBody>
          <a:bodyPr/>
          <a:lstStyle/>
          <a:p>
            <a:fld id="{7336A19C-8CF2-44DC-9378-39F15BCD51C4}" type="datetime5">
              <a:rPr lang="en-US" sz="1200" b="1" smtClean="0">
                <a:solidFill>
                  <a:schemeClr val="accent1">
                    <a:lumMod val="75000"/>
                  </a:schemeClr>
                </a:solidFill>
                <a:latin typeface="+mj-lt"/>
              </a:rPr>
              <a:t>31-Aug-26</a:t>
            </a:fld>
            <a:endParaRPr lang="en-US" sz="1200" b="1" dirty="0">
              <a:solidFill>
                <a:schemeClr val="accent1">
                  <a:lumMod val="75000"/>
                </a:schemeClr>
              </a:solidFill>
              <a:latin typeface="+mj-lt"/>
            </a:endParaRPr>
          </a:p>
        </p:txBody>
      </p:sp>
      <p:sp>
        <p:nvSpPr>
          <p:cNvPr id="5" name="Footer Placeholder 18">
            <a:extLst>
              <a:ext uri="{FF2B5EF4-FFF2-40B4-BE49-F238E27FC236}">
                <a16:creationId xmlns:a16="http://schemas.microsoft.com/office/drawing/2014/main" id="{5F0FC40C-9747-2842-9A29-0EAC3F2019D7}"/>
              </a:ext>
            </a:extLst>
          </p:cNvPr>
          <p:cNvSpPr>
            <a:spLocks noGrp="1"/>
          </p:cNvSpPr>
          <p:nvPr>
            <p:ph type="ftr" sz="quarter" idx="5"/>
          </p:nvPr>
        </p:nvSpPr>
        <p:spPr>
          <a:xfrm>
            <a:off x="1878643" y="6554699"/>
            <a:ext cx="8712968" cy="184666"/>
          </a:xfrm>
        </p:spPr>
        <p:txBody>
          <a:bodyPr/>
          <a:lstStyle/>
          <a:p>
            <a:r>
              <a:rPr lang="en-US" sz="1200" b="1">
                <a:solidFill>
                  <a:schemeClr val="accent1">
                    <a:lumMod val="75000"/>
                  </a:schemeClr>
                </a:solidFill>
                <a:latin typeface="+mj-lt"/>
              </a:rPr>
              <a:t>Department of ETE,BIT                         Real Time Vision-Based Precision Landing of UAV in GPS Limited Areas</a:t>
            </a:r>
            <a:endParaRPr lang="en-US" sz="1200" b="1" dirty="0">
              <a:solidFill>
                <a:schemeClr val="accent1">
                  <a:lumMod val="75000"/>
                </a:schemeClr>
              </a:solidFill>
              <a:latin typeface="+mj-lt"/>
            </a:endParaRPr>
          </a:p>
        </p:txBody>
      </p:sp>
      <p:sp>
        <p:nvSpPr>
          <p:cNvPr id="6" name="Slide Number Placeholder 19">
            <a:extLst>
              <a:ext uri="{FF2B5EF4-FFF2-40B4-BE49-F238E27FC236}">
                <a16:creationId xmlns:a16="http://schemas.microsoft.com/office/drawing/2014/main" id="{DB8F2AB6-960B-FFF6-91EF-D41CE3B3CEC2}"/>
              </a:ext>
            </a:extLst>
          </p:cNvPr>
          <p:cNvSpPr>
            <a:spLocks noGrp="1"/>
          </p:cNvSpPr>
          <p:nvPr>
            <p:ph type="sldNum" sz="quarter" idx="7"/>
          </p:nvPr>
        </p:nvSpPr>
        <p:spPr>
          <a:xfrm>
            <a:off x="11467559" y="6543761"/>
            <a:ext cx="349003" cy="184666"/>
          </a:xfrm>
        </p:spPr>
        <p:txBody>
          <a:bodyPr/>
          <a:lstStyle/>
          <a:p>
            <a:fld id="{B6F15528-21DE-4FAA-801E-634DDDAF4B2B}" type="slidenum">
              <a:rPr lang="en-IN" sz="1200" b="1" smtClean="0">
                <a:solidFill>
                  <a:schemeClr val="accent1">
                    <a:lumMod val="75000"/>
                  </a:schemeClr>
                </a:solidFill>
                <a:latin typeface="+mj-lt"/>
              </a:rPr>
              <a:pPr/>
              <a:t>15</a:t>
            </a:fld>
            <a:endParaRPr lang="en-IN" sz="1200" b="1" dirty="0">
              <a:solidFill>
                <a:schemeClr val="accent1">
                  <a:lumMod val="75000"/>
                </a:schemeClr>
              </a:solidFill>
              <a:latin typeface="+mj-lt"/>
            </a:endParaRPr>
          </a:p>
        </p:txBody>
      </p:sp>
      <p:sp>
        <p:nvSpPr>
          <p:cNvPr id="7" name="object 8">
            <a:extLst>
              <a:ext uri="{FF2B5EF4-FFF2-40B4-BE49-F238E27FC236}">
                <a16:creationId xmlns:a16="http://schemas.microsoft.com/office/drawing/2014/main" id="{36205DF6-99EC-71C7-00C8-D881010E8453}"/>
              </a:ext>
            </a:extLst>
          </p:cNvPr>
          <p:cNvSpPr/>
          <p:nvPr/>
        </p:nvSpPr>
        <p:spPr>
          <a:xfrm>
            <a:off x="11659912" y="6453531"/>
            <a:ext cx="372745" cy="365125"/>
          </a:xfrm>
          <a:custGeom>
            <a:avLst/>
            <a:gdLst/>
            <a:ahLst/>
            <a:cxnLst/>
            <a:rect l="l" t="t" r="r" b="b"/>
            <a:pathLst>
              <a:path w="372745" h="365125">
                <a:moveTo>
                  <a:pt x="0" y="0"/>
                </a:moveTo>
                <a:lnTo>
                  <a:pt x="372532" y="0"/>
                </a:lnTo>
                <a:lnTo>
                  <a:pt x="372532" y="365124"/>
                </a:lnTo>
                <a:lnTo>
                  <a:pt x="0" y="365124"/>
                </a:lnTo>
                <a:lnTo>
                  <a:pt x="0" y="0"/>
                </a:lnTo>
                <a:close/>
              </a:path>
            </a:pathLst>
          </a:custGeom>
          <a:ln w="9524">
            <a:solidFill>
              <a:srgbClr val="FF0000"/>
            </a:solidFill>
          </a:ln>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8FE35D-908E-3BC8-FD44-66E55FD58F2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434</TotalTime>
  <Words>1547</Words>
  <Application>Microsoft Office PowerPoint</Application>
  <PresentationFormat>Widescreen</PresentationFormat>
  <Paragraphs>185</Paragraphs>
  <Slides>16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Times New Roman</vt:lpstr>
      <vt:lpstr>Office Theme</vt:lpstr>
      <vt:lpstr>Bangalore Institute Of Technology   R Road, V V Pura Bengaluru-560004</vt:lpstr>
      <vt:lpstr>VISION OF THE DEPARTMENT</vt:lpstr>
      <vt:lpstr>CONTENTS</vt:lpstr>
      <vt:lpstr>ABSTRACT</vt:lpstr>
      <vt:lpstr>INTRODUCTION</vt:lpstr>
      <vt:lpstr>LITERATURE REVIEW</vt:lpstr>
      <vt:lpstr>PowerPoint Presentation</vt:lpstr>
      <vt:lpstr>PowerPoint Presentation</vt:lpstr>
      <vt:lpstr>  METHODOLOGY</vt:lpstr>
      <vt:lpstr>PowerPoint Presentation</vt:lpstr>
      <vt:lpstr>PowerPoint Presentation</vt:lpstr>
      <vt:lpstr>HARDWARE AND SOFTWARE REQUIREMENTS</vt:lpstr>
      <vt:lpstr>EXPECTED RESULTS</vt:lpstr>
      <vt:lpstr>APPLICATION OF THE PROJECT</vt:lpstr>
      <vt:lpstr> PAPER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Bangalore Institute Of Technology K R Road, V V Pura Bengaluru-560004</dc:title>
  <dc:creator>Animesh Bhadu</dc:creator>
  <cp:lastModifiedBy>Chiranth B M</cp:lastModifiedBy>
  <cp:revision>46</cp:revision>
  <dcterms:created xsi:type="dcterms:W3CDTF">2026-04-12T01:32:14Z</dcterms:created>
  <dcterms:modified xsi:type="dcterms:W3CDTF">2026-08-31T16:21:07Z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2026-04-09T00:00:00Z</vt:filetime>
  </property>
  <property fmtid="{D5CDD505-2E9C-101B-9397-08002B2CF9AE}" pid="3" name="Creator">
    <vt:lpwstr>PDFium</vt:lpwstr>
  </property>
  <property fmtid="{D5CDD505-2E9C-101B-9397-08002B2CF9AE}" pid="4" name="Producer">
    <vt:lpwstr>PDFium</vt:lpwstr>
  </property>
  <property fmtid="{D5CDD505-2E9C-101B-9397-08002B2CF9AE}" pid="5" name="LastSaved">
    <vt:filetime>2026-04-09T00:00:00Z</vt:filetime>
  </property>
</Properties>
</file>